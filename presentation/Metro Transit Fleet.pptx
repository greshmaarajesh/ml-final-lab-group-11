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DM Sans Bold" charset="1" panose="00000000000000000000"/>
      <p:regular r:id="rId26"/>
    </p:embeddedFont>
    <p:embeddedFont>
      <p:font typeface="Inter" charset="1" panose="02000503000000020004"/>
      <p:regular r:id="rId27"/>
    </p:embeddedFont>
    <p:embeddedFont>
      <p:font typeface="Inter Bold" charset="1" panose="02000503000000020004"/>
      <p:regular r:id="rId28"/>
    </p:embeddedFont>
    <p:embeddedFont>
      <p:font typeface="Canva Sans Bold" charset="1" panose="020B0803030501040103"/>
      <p:regular r:id="rId29"/>
    </p:embeddedFont>
    <p:embeddedFont>
      <p:font typeface="Canva Sans" charset="1" panose="020B0503030501040103"/>
      <p:regular r:id="rId30"/>
    </p:embeddedFont>
    <p:embeddedFont>
      <p:font typeface="DM Sans" charset="1" panose="00000000000000000000"/>
      <p:regular r:id="rId31"/>
    </p:embeddedFont>
    <p:embeddedFont>
      <p:font typeface="Montserrat Bold" charset="1" panose="00000800000000000000"/>
      <p:regular r:id="rId32"/>
    </p:embeddedFont>
    <p:embeddedFont>
      <p:font typeface="Arimo Bold" charset="1" panose="020B0704020202020204"/>
      <p:regular r:id="rId33"/>
    </p:embeddedFont>
    <p:embeddedFont>
      <p:font typeface="Arimo" charset="1" panose="020B0604020202020204"/>
      <p:regular r:id="rId34"/>
    </p:embeddedFont>
    <p:embeddedFont>
      <p:font typeface="Inter Medium" charset="1" panose="02000503000000020004"/>
      <p:regular r:id="rId35"/>
    </p:embeddedFont>
    <p:embeddedFont>
      <p:font typeface="Times New Roman MT Italics" charset="1" panose="02030502070405090303"/>
      <p:regular r:id="rId36"/>
    </p:embeddedFont>
    <p:embeddedFont>
      <p:font typeface="Oswald Bold" charset="1" panose="00000800000000000000"/>
      <p:regular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png" Type="http://schemas.openxmlformats.org/officeDocument/2006/relationships/image"/><Relationship Id="rId4" Target="../embeddings/oleObject1.bin" Type="http://schemas.openxmlformats.org/officeDocument/2006/relationships/oleObjec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 Id="rId4" Target="../media/image1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73560" y="604488"/>
            <a:ext cx="17639848" cy="9580389"/>
            <a:chOff x="0" y="0"/>
            <a:chExt cx="4645886" cy="2523230"/>
          </a:xfrm>
        </p:grpSpPr>
        <p:sp>
          <p:nvSpPr>
            <p:cNvPr name="Freeform 3" id="3"/>
            <p:cNvSpPr/>
            <p:nvPr/>
          </p:nvSpPr>
          <p:spPr>
            <a:xfrm flipH="false" flipV="false" rot="0">
              <a:off x="0" y="0"/>
              <a:ext cx="4645886" cy="2523230"/>
            </a:xfrm>
            <a:custGeom>
              <a:avLst/>
              <a:gdLst/>
              <a:ahLst/>
              <a:cxnLst/>
              <a:rect r="r" b="b" t="t" l="l"/>
              <a:pathLst>
                <a:path h="2523230" w="4645886">
                  <a:moveTo>
                    <a:pt x="22383" y="0"/>
                  </a:moveTo>
                  <a:lnTo>
                    <a:pt x="4623503" y="0"/>
                  </a:lnTo>
                  <a:cubicBezTo>
                    <a:pt x="4629439" y="0"/>
                    <a:pt x="4635132" y="2358"/>
                    <a:pt x="4639330" y="6556"/>
                  </a:cubicBezTo>
                  <a:cubicBezTo>
                    <a:pt x="4643527" y="10754"/>
                    <a:pt x="4645886" y="16447"/>
                    <a:pt x="4645886" y="22383"/>
                  </a:cubicBezTo>
                  <a:lnTo>
                    <a:pt x="4645886" y="2500847"/>
                  </a:lnTo>
                  <a:cubicBezTo>
                    <a:pt x="4645886" y="2506783"/>
                    <a:pt x="4643527" y="2512476"/>
                    <a:pt x="4639330" y="2516674"/>
                  </a:cubicBezTo>
                  <a:cubicBezTo>
                    <a:pt x="4635132" y="2520872"/>
                    <a:pt x="4629439" y="2523230"/>
                    <a:pt x="4623503" y="2523230"/>
                  </a:cubicBezTo>
                  <a:lnTo>
                    <a:pt x="22383" y="2523230"/>
                  </a:lnTo>
                  <a:cubicBezTo>
                    <a:pt x="16447" y="2523230"/>
                    <a:pt x="10754" y="2520872"/>
                    <a:pt x="6556" y="2516674"/>
                  </a:cubicBezTo>
                  <a:cubicBezTo>
                    <a:pt x="2358" y="2512476"/>
                    <a:pt x="0" y="2506783"/>
                    <a:pt x="0" y="2500847"/>
                  </a:cubicBezTo>
                  <a:lnTo>
                    <a:pt x="0" y="22383"/>
                  </a:lnTo>
                  <a:cubicBezTo>
                    <a:pt x="0" y="16447"/>
                    <a:pt x="2358" y="10754"/>
                    <a:pt x="6556" y="6556"/>
                  </a:cubicBezTo>
                  <a:cubicBezTo>
                    <a:pt x="10754" y="2358"/>
                    <a:pt x="16447" y="0"/>
                    <a:pt x="22383" y="0"/>
                  </a:cubicBezTo>
                  <a:close/>
                </a:path>
              </a:pathLst>
            </a:custGeom>
            <a:gradFill rotWithShape="true">
              <a:gsLst>
                <a:gs pos="0">
                  <a:srgbClr val="3B82F6">
                    <a:alpha val="100000"/>
                  </a:srgbClr>
                </a:gs>
                <a:gs pos="100000">
                  <a:srgbClr val="06B6D4">
                    <a:alpha val="100000"/>
                  </a:srgbClr>
                </a:gs>
              </a:gsLst>
              <a:lin ang="0"/>
            </a:gradFill>
          </p:spPr>
        </p:sp>
        <p:sp>
          <p:nvSpPr>
            <p:cNvPr name="TextBox 4" id="4"/>
            <p:cNvSpPr txBox="true"/>
            <p:nvPr/>
          </p:nvSpPr>
          <p:spPr>
            <a:xfrm>
              <a:off x="0" y="-38100"/>
              <a:ext cx="4645886" cy="256133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273560" y="6775712"/>
            <a:ext cx="17639848" cy="3597976"/>
            <a:chOff x="0" y="0"/>
            <a:chExt cx="4645886" cy="947615"/>
          </a:xfrm>
        </p:grpSpPr>
        <p:sp>
          <p:nvSpPr>
            <p:cNvPr name="Freeform 6" id="6"/>
            <p:cNvSpPr/>
            <p:nvPr/>
          </p:nvSpPr>
          <p:spPr>
            <a:xfrm flipH="false" flipV="false" rot="0">
              <a:off x="0" y="0"/>
              <a:ext cx="4645886" cy="947615"/>
            </a:xfrm>
            <a:custGeom>
              <a:avLst/>
              <a:gdLst/>
              <a:ahLst/>
              <a:cxnLst/>
              <a:rect r="r" b="b" t="t" l="l"/>
              <a:pathLst>
                <a:path h="947615" w="4645886">
                  <a:moveTo>
                    <a:pt x="22383" y="0"/>
                  </a:moveTo>
                  <a:lnTo>
                    <a:pt x="4623503" y="0"/>
                  </a:lnTo>
                  <a:cubicBezTo>
                    <a:pt x="4629439" y="0"/>
                    <a:pt x="4635132" y="2358"/>
                    <a:pt x="4639330" y="6556"/>
                  </a:cubicBezTo>
                  <a:cubicBezTo>
                    <a:pt x="4643527" y="10754"/>
                    <a:pt x="4645886" y="16447"/>
                    <a:pt x="4645886" y="22383"/>
                  </a:cubicBezTo>
                  <a:lnTo>
                    <a:pt x="4645886" y="925232"/>
                  </a:lnTo>
                  <a:cubicBezTo>
                    <a:pt x="4645886" y="937594"/>
                    <a:pt x="4635864" y="947615"/>
                    <a:pt x="4623503" y="947615"/>
                  </a:cubicBezTo>
                  <a:lnTo>
                    <a:pt x="22383" y="947615"/>
                  </a:lnTo>
                  <a:cubicBezTo>
                    <a:pt x="16447" y="947615"/>
                    <a:pt x="10754" y="945257"/>
                    <a:pt x="6556" y="941059"/>
                  </a:cubicBezTo>
                  <a:cubicBezTo>
                    <a:pt x="2358" y="936862"/>
                    <a:pt x="0" y="931168"/>
                    <a:pt x="0" y="925232"/>
                  </a:cubicBezTo>
                  <a:lnTo>
                    <a:pt x="0" y="22383"/>
                  </a:lnTo>
                  <a:cubicBezTo>
                    <a:pt x="0" y="16447"/>
                    <a:pt x="2358" y="10754"/>
                    <a:pt x="6556" y="6556"/>
                  </a:cubicBezTo>
                  <a:cubicBezTo>
                    <a:pt x="10754" y="2358"/>
                    <a:pt x="16447" y="0"/>
                    <a:pt x="22383" y="0"/>
                  </a:cubicBezTo>
                  <a:close/>
                </a:path>
              </a:pathLst>
            </a:custGeom>
            <a:solidFill>
              <a:srgbClr val="F8FAFC">
                <a:alpha val="19608"/>
              </a:srgbClr>
            </a:solidFill>
          </p:spPr>
        </p:sp>
        <p:sp>
          <p:nvSpPr>
            <p:cNvPr name="TextBox 7" id="7"/>
            <p:cNvSpPr txBox="true"/>
            <p:nvPr/>
          </p:nvSpPr>
          <p:spPr>
            <a:xfrm>
              <a:off x="0" y="-38100"/>
              <a:ext cx="4645886" cy="985715"/>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8" id="8"/>
          <p:cNvSpPr/>
          <p:nvPr/>
        </p:nvSpPr>
        <p:spPr>
          <a:xfrm flipH="false" flipV="false" rot="0">
            <a:off x="1027841" y="989643"/>
            <a:ext cx="697221" cy="693688"/>
          </a:xfrm>
          <a:custGeom>
            <a:avLst/>
            <a:gdLst/>
            <a:ahLst/>
            <a:cxnLst/>
            <a:rect r="r" b="b" t="t" l="l"/>
            <a:pathLst>
              <a:path h="693688" w="697221">
                <a:moveTo>
                  <a:pt x="0" y="0"/>
                </a:moveTo>
                <a:lnTo>
                  <a:pt x="697221" y="0"/>
                </a:lnTo>
                <a:lnTo>
                  <a:pt x="697221" y="693688"/>
                </a:lnTo>
                <a:lnTo>
                  <a:pt x="0" y="693688"/>
                </a:lnTo>
                <a:lnTo>
                  <a:pt x="0" y="0"/>
                </a:lnTo>
                <a:close/>
              </a:path>
            </a:pathLst>
          </a:custGeom>
          <a:blipFill>
            <a:blip r:embed="rId2"/>
            <a:stretch>
              <a:fillRect l="0" t="0" r="0" b="0"/>
            </a:stretch>
          </a:blipFill>
        </p:spPr>
      </p:sp>
      <p:grpSp>
        <p:nvGrpSpPr>
          <p:cNvPr name="Group 9" id="9"/>
          <p:cNvGrpSpPr/>
          <p:nvPr/>
        </p:nvGrpSpPr>
        <p:grpSpPr>
          <a:xfrm rot="-10800000">
            <a:off x="6658615" y="5543710"/>
            <a:ext cx="2434869" cy="214732"/>
            <a:chOff x="0" y="0"/>
            <a:chExt cx="4752222" cy="419100"/>
          </a:xfrm>
        </p:grpSpPr>
        <p:sp>
          <p:nvSpPr>
            <p:cNvPr name="Freeform 10" id="10"/>
            <p:cNvSpPr/>
            <p:nvPr/>
          </p:nvSpPr>
          <p:spPr>
            <a:xfrm flipH="false" flipV="false" rot="0">
              <a:off x="0" y="0"/>
              <a:ext cx="4752222" cy="419100"/>
            </a:xfrm>
            <a:custGeom>
              <a:avLst/>
              <a:gdLst/>
              <a:ahLst/>
              <a:cxnLst/>
              <a:rect r="r" b="b" t="t" l="l"/>
              <a:pathLst>
                <a:path h="419100" w="4752222">
                  <a:moveTo>
                    <a:pt x="11924" y="0"/>
                  </a:moveTo>
                  <a:lnTo>
                    <a:pt x="4444119" y="0"/>
                  </a:lnTo>
                  <a:cubicBezTo>
                    <a:pt x="4657291" y="0"/>
                    <a:pt x="4752222" y="93819"/>
                    <a:pt x="4752222" y="209550"/>
                  </a:cubicBezTo>
                  <a:cubicBezTo>
                    <a:pt x="4752222" y="325281"/>
                    <a:pt x="4657291" y="419100"/>
                    <a:pt x="4444119" y="419100"/>
                  </a:cubicBezTo>
                  <a:lnTo>
                    <a:pt x="11924" y="419100"/>
                  </a:lnTo>
                  <a:cubicBezTo>
                    <a:pt x="5338" y="419100"/>
                    <a:pt x="0" y="413762"/>
                    <a:pt x="0" y="407177"/>
                  </a:cubicBezTo>
                  <a:lnTo>
                    <a:pt x="0" y="11924"/>
                  </a:lnTo>
                  <a:cubicBezTo>
                    <a:pt x="0" y="5338"/>
                    <a:pt x="5338" y="0"/>
                    <a:pt x="11924" y="0"/>
                  </a:cubicBezTo>
                  <a:close/>
                </a:path>
              </a:pathLst>
            </a:custGeom>
            <a:solidFill>
              <a:srgbClr val="F8FAFC">
                <a:alpha val="29804"/>
              </a:srgbClr>
            </a:solidFill>
          </p:spPr>
        </p:sp>
        <p:sp>
          <p:nvSpPr>
            <p:cNvPr name="TextBox 11" id="11"/>
            <p:cNvSpPr txBox="true"/>
            <p:nvPr/>
          </p:nvSpPr>
          <p:spPr>
            <a:xfrm>
              <a:off x="25400" y="-38100"/>
              <a:ext cx="4523622" cy="457200"/>
            </a:xfrm>
            <a:prstGeom prst="rect">
              <a:avLst/>
            </a:prstGeom>
          </p:spPr>
          <p:txBody>
            <a:bodyPr anchor="ctr" rtlCol="false" tIns="50800" lIns="50800" bIns="50800" rIns="50800"/>
            <a:lstStyle/>
            <a:p>
              <a:pPr algn="ctr" marL="0" indent="0" lvl="0">
                <a:lnSpc>
                  <a:spcPts val="3499"/>
                </a:lnSpc>
              </a:pPr>
            </a:p>
          </p:txBody>
        </p:sp>
      </p:grpSp>
      <p:grpSp>
        <p:nvGrpSpPr>
          <p:cNvPr name="Group 12" id="12"/>
          <p:cNvGrpSpPr/>
          <p:nvPr/>
        </p:nvGrpSpPr>
        <p:grpSpPr>
          <a:xfrm rot="0">
            <a:off x="9194516" y="5543710"/>
            <a:ext cx="2434869" cy="214732"/>
            <a:chOff x="0" y="0"/>
            <a:chExt cx="4752222" cy="419100"/>
          </a:xfrm>
        </p:grpSpPr>
        <p:sp>
          <p:nvSpPr>
            <p:cNvPr name="Freeform 13" id="13"/>
            <p:cNvSpPr/>
            <p:nvPr/>
          </p:nvSpPr>
          <p:spPr>
            <a:xfrm flipH="false" flipV="false" rot="0">
              <a:off x="0" y="0"/>
              <a:ext cx="4752222" cy="419100"/>
            </a:xfrm>
            <a:custGeom>
              <a:avLst/>
              <a:gdLst/>
              <a:ahLst/>
              <a:cxnLst/>
              <a:rect r="r" b="b" t="t" l="l"/>
              <a:pathLst>
                <a:path h="419100" w="4752222">
                  <a:moveTo>
                    <a:pt x="11924" y="0"/>
                  </a:moveTo>
                  <a:lnTo>
                    <a:pt x="4444119" y="0"/>
                  </a:lnTo>
                  <a:cubicBezTo>
                    <a:pt x="4657291" y="0"/>
                    <a:pt x="4752222" y="93819"/>
                    <a:pt x="4752222" y="209550"/>
                  </a:cubicBezTo>
                  <a:cubicBezTo>
                    <a:pt x="4752222" y="325281"/>
                    <a:pt x="4657291" y="419100"/>
                    <a:pt x="4444119" y="419100"/>
                  </a:cubicBezTo>
                  <a:lnTo>
                    <a:pt x="11924" y="419100"/>
                  </a:lnTo>
                  <a:cubicBezTo>
                    <a:pt x="5338" y="419100"/>
                    <a:pt x="0" y="413762"/>
                    <a:pt x="0" y="407177"/>
                  </a:cubicBezTo>
                  <a:lnTo>
                    <a:pt x="0" y="11924"/>
                  </a:lnTo>
                  <a:cubicBezTo>
                    <a:pt x="0" y="5338"/>
                    <a:pt x="5338" y="0"/>
                    <a:pt x="11924" y="0"/>
                  </a:cubicBezTo>
                  <a:close/>
                </a:path>
              </a:pathLst>
            </a:custGeom>
            <a:solidFill>
              <a:srgbClr val="F8FAFC">
                <a:alpha val="29804"/>
              </a:srgbClr>
            </a:solidFill>
          </p:spPr>
        </p:sp>
        <p:sp>
          <p:nvSpPr>
            <p:cNvPr name="TextBox 14" id="14"/>
            <p:cNvSpPr txBox="true"/>
            <p:nvPr/>
          </p:nvSpPr>
          <p:spPr>
            <a:xfrm>
              <a:off x="25400" y="-38100"/>
              <a:ext cx="4523622" cy="457200"/>
            </a:xfrm>
            <a:prstGeom prst="rect">
              <a:avLst/>
            </a:prstGeom>
          </p:spPr>
          <p:txBody>
            <a:bodyPr anchor="ctr" rtlCol="false" tIns="50800" lIns="50800" bIns="50800" rIns="50800"/>
            <a:lstStyle/>
            <a:p>
              <a:pPr algn="ctr" marL="0" indent="0" lvl="0">
                <a:lnSpc>
                  <a:spcPts val="3499"/>
                </a:lnSpc>
              </a:pPr>
            </a:p>
          </p:txBody>
        </p:sp>
      </p:grpSp>
      <p:sp>
        <p:nvSpPr>
          <p:cNvPr name="TextBox 15" id="15"/>
          <p:cNvSpPr txBox="true"/>
          <p:nvPr/>
        </p:nvSpPr>
        <p:spPr>
          <a:xfrm rot="0">
            <a:off x="3160617" y="2260502"/>
            <a:ext cx="12796339" cy="3134181"/>
          </a:xfrm>
          <a:prstGeom prst="rect">
            <a:avLst/>
          </a:prstGeom>
        </p:spPr>
        <p:txBody>
          <a:bodyPr anchor="t" rtlCol="false" tIns="0" lIns="0" bIns="0" rIns="0">
            <a:spAutoFit/>
          </a:bodyPr>
          <a:lstStyle/>
          <a:p>
            <a:pPr algn="ctr">
              <a:lnSpc>
                <a:spcPts val="8374"/>
              </a:lnSpc>
            </a:pPr>
            <a:r>
              <a:rPr lang="en-US" sz="5982" b="true">
                <a:solidFill>
                  <a:srgbClr val="F8FAFC"/>
                </a:solidFill>
                <a:latin typeface="DM Sans Bold"/>
                <a:ea typeface="DM Sans Bold"/>
                <a:cs typeface="DM Sans Bold"/>
                <a:sym typeface="DM Sans Bold"/>
              </a:rPr>
              <a:t>Metro Transit Fleet</a:t>
            </a:r>
          </a:p>
          <a:p>
            <a:pPr algn="ctr" marL="0" indent="0" lvl="0">
              <a:lnSpc>
                <a:spcPts val="8374"/>
              </a:lnSpc>
            </a:pPr>
            <a:r>
              <a:rPr lang="en-US" b="true" sz="5982">
                <a:solidFill>
                  <a:srgbClr val="F8FAFC"/>
                </a:solidFill>
                <a:latin typeface="DM Sans Bold"/>
                <a:ea typeface="DM Sans Bold"/>
                <a:cs typeface="DM Sans Bold"/>
                <a:sym typeface="DM Sans Bold"/>
              </a:rPr>
              <a:t> Demand Forecasting &amp; Fleet Rebalancing</a:t>
            </a:r>
          </a:p>
        </p:txBody>
      </p:sp>
      <p:sp>
        <p:nvSpPr>
          <p:cNvPr name="TextBox 16" id="16"/>
          <p:cNvSpPr txBox="true"/>
          <p:nvPr/>
        </p:nvSpPr>
        <p:spPr>
          <a:xfrm rot="0">
            <a:off x="1881041" y="1113602"/>
            <a:ext cx="5995008" cy="398145"/>
          </a:xfrm>
          <a:prstGeom prst="rect">
            <a:avLst/>
          </a:prstGeom>
        </p:spPr>
        <p:txBody>
          <a:bodyPr anchor="t" rtlCol="false" tIns="0" lIns="0" bIns="0" rIns="0">
            <a:spAutoFit/>
          </a:bodyPr>
          <a:lstStyle/>
          <a:p>
            <a:pPr algn="l" marL="0" indent="0" lvl="0">
              <a:lnSpc>
                <a:spcPts val="3254"/>
              </a:lnSpc>
            </a:pPr>
            <a:r>
              <a:rPr lang="en-US" sz="2325">
                <a:solidFill>
                  <a:srgbClr val="F8FAFC"/>
                </a:solidFill>
                <a:latin typeface="Inter"/>
                <a:ea typeface="Inter"/>
                <a:cs typeface="Inter"/>
                <a:sym typeface="Inter"/>
              </a:rPr>
              <a:t>Machine Learning Lab – Final Examination​</a:t>
            </a:r>
          </a:p>
        </p:txBody>
      </p:sp>
      <p:sp>
        <p:nvSpPr>
          <p:cNvPr name="TextBox 17" id="17"/>
          <p:cNvSpPr txBox="true"/>
          <p:nvPr/>
        </p:nvSpPr>
        <p:spPr>
          <a:xfrm rot="0">
            <a:off x="3341636" y="5863217"/>
            <a:ext cx="11705759" cy="398145"/>
          </a:xfrm>
          <a:prstGeom prst="rect">
            <a:avLst/>
          </a:prstGeom>
        </p:spPr>
        <p:txBody>
          <a:bodyPr anchor="t" rtlCol="false" tIns="0" lIns="0" bIns="0" rIns="0">
            <a:spAutoFit/>
          </a:bodyPr>
          <a:lstStyle/>
          <a:p>
            <a:pPr algn="ctr" marL="0" indent="0" lvl="0">
              <a:lnSpc>
                <a:spcPts val="3254"/>
              </a:lnSpc>
            </a:pPr>
            <a:r>
              <a:rPr lang="en-US" sz="2325">
                <a:solidFill>
                  <a:srgbClr val="F8FAFC"/>
                </a:solidFill>
                <a:latin typeface="Inter"/>
                <a:ea typeface="Inter"/>
                <a:cs typeface="Inter"/>
                <a:sym typeface="Inter"/>
              </a:rPr>
              <a:t>Forec</a:t>
            </a:r>
            <a:r>
              <a:rPr lang="en-US" sz="2325">
                <a:solidFill>
                  <a:srgbClr val="F8FAFC"/>
                </a:solidFill>
                <a:latin typeface="Inter"/>
                <a:ea typeface="Inter"/>
                <a:cs typeface="Inter"/>
                <a:sym typeface="Inter"/>
              </a:rPr>
              <a:t>ast hourly bike-share demand for fleet rebalancing. </a:t>
            </a:r>
          </a:p>
        </p:txBody>
      </p:sp>
      <p:sp>
        <p:nvSpPr>
          <p:cNvPr name="TextBox 18" id="18"/>
          <p:cNvSpPr txBox="true"/>
          <p:nvPr/>
        </p:nvSpPr>
        <p:spPr>
          <a:xfrm rot="0">
            <a:off x="808993" y="7065862"/>
            <a:ext cx="2455919" cy="412795"/>
          </a:xfrm>
          <a:prstGeom prst="rect">
            <a:avLst/>
          </a:prstGeom>
        </p:spPr>
        <p:txBody>
          <a:bodyPr anchor="t" rtlCol="false" tIns="0" lIns="0" bIns="0" rIns="0">
            <a:spAutoFit/>
          </a:bodyPr>
          <a:lstStyle/>
          <a:p>
            <a:pPr algn="l" marL="0" indent="0" lvl="0">
              <a:lnSpc>
                <a:spcPts val="3497"/>
              </a:lnSpc>
            </a:pPr>
            <a:r>
              <a:rPr lang="en-US" b="true" sz="2498">
                <a:solidFill>
                  <a:srgbClr val="F8FAFC"/>
                </a:solidFill>
                <a:latin typeface="Inter Bold"/>
                <a:ea typeface="Inter Bold"/>
                <a:cs typeface="Inter Bold"/>
                <a:sym typeface="Inter Bold"/>
              </a:rPr>
              <a:t>Presented by:</a:t>
            </a:r>
          </a:p>
        </p:txBody>
      </p:sp>
      <p:sp>
        <p:nvSpPr>
          <p:cNvPr name="TextBox 19" id="19"/>
          <p:cNvSpPr txBox="true"/>
          <p:nvPr/>
        </p:nvSpPr>
        <p:spPr>
          <a:xfrm rot="0">
            <a:off x="808993" y="7583432"/>
            <a:ext cx="10381311" cy="2855595"/>
          </a:xfrm>
          <a:prstGeom prst="rect">
            <a:avLst/>
          </a:prstGeom>
        </p:spPr>
        <p:txBody>
          <a:bodyPr anchor="t" rtlCol="false" tIns="0" lIns="0" bIns="0" rIns="0">
            <a:spAutoFit/>
          </a:bodyPr>
          <a:lstStyle/>
          <a:p>
            <a:pPr algn="l">
              <a:lnSpc>
                <a:spcPts val="3254"/>
              </a:lnSpc>
            </a:pPr>
            <a:r>
              <a:rPr lang="en-US" sz="2325">
                <a:solidFill>
                  <a:srgbClr val="F8FAFC"/>
                </a:solidFill>
                <a:latin typeface="Inter"/>
                <a:ea typeface="Inter"/>
                <a:cs typeface="Inter"/>
                <a:sym typeface="Inter"/>
              </a:rPr>
              <a:t>241BCADA60 Varshitha K R</a:t>
            </a:r>
          </a:p>
          <a:p>
            <a:pPr algn="l">
              <a:lnSpc>
                <a:spcPts val="3254"/>
              </a:lnSpc>
            </a:pPr>
            <a:r>
              <a:rPr lang="en-US" sz="2325">
                <a:solidFill>
                  <a:srgbClr val="F8FAFC"/>
                </a:solidFill>
                <a:latin typeface="Inter"/>
                <a:ea typeface="Inter"/>
                <a:cs typeface="Inter"/>
                <a:sym typeface="Inter"/>
              </a:rPr>
              <a:t>241BCADA46 Greshmaa Rajesh</a:t>
            </a:r>
          </a:p>
          <a:p>
            <a:pPr algn="l">
              <a:lnSpc>
                <a:spcPts val="3254"/>
              </a:lnSpc>
            </a:pPr>
            <a:r>
              <a:rPr lang="en-US" sz="2325">
                <a:solidFill>
                  <a:srgbClr val="F8FAFC"/>
                </a:solidFill>
                <a:latin typeface="Inter"/>
                <a:ea typeface="Inter"/>
                <a:cs typeface="Inter"/>
                <a:sym typeface="Inter"/>
              </a:rPr>
              <a:t>241BCADA15 A Merlin Levia</a:t>
            </a:r>
          </a:p>
          <a:p>
            <a:pPr algn="l">
              <a:lnSpc>
                <a:spcPts val="3254"/>
              </a:lnSpc>
            </a:pPr>
            <a:r>
              <a:rPr lang="en-US" sz="2325">
                <a:solidFill>
                  <a:srgbClr val="F8FAFC"/>
                </a:solidFill>
                <a:latin typeface="Inter"/>
                <a:ea typeface="Inter"/>
                <a:cs typeface="Inter"/>
                <a:sym typeface="Inter"/>
              </a:rPr>
              <a:t>241BCADA28 V Mounisha</a:t>
            </a:r>
          </a:p>
          <a:p>
            <a:pPr algn="l">
              <a:lnSpc>
                <a:spcPts val="3254"/>
              </a:lnSpc>
            </a:pPr>
            <a:r>
              <a:rPr lang="en-US" sz="2325">
                <a:solidFill>
                  <a:srgbClr val="F8FAFC"/>
                </a:solidFill>
                <a:latin typeface="Inter"/>
                <a:ea typeface="Inter"/>
                <a:cs typeface="Inter"/>
                <a:sym typeface="Inter"/>
              </a:rPr>
              <a:t>241BCADA10 Shiny Matilda K</a:t>
            </a:r>
          </a:p>
          <a:p>
            <a:pPr algn="l">
              <a:lnSpc>
                <a:spcPts val="3254"/>
              </a:lnSpc>
            </a:pPr>
            <a:r>
              <a:rPr lang="en-US" sz="2325">
                <a:solidFill>
                  <a:srgbClr val="F8FAFC"/>
                </a:solidFill>
                <a:latin typeface="Inter"/>
                <a:ea typeface="Inter"/>
                <a:cs typeface="Inter"/>
                <a:sym typeface="Inter"/>
              </a:rPr>
              <a:t>241BCADA40 Angel Precilla</a:t>
            </a:r>
          </a:p>
          <a:p>
            <a:pPr algn="l" marL="0" indent="0" lvl="0">
              <a:lnSpc>
                <a:spcPts val="3254"/>
              </a:lnSpc>
            </a:pPr>
          </a:p>
        </p:txBody>
      </p:sp>
      <p:sp>
        <p:nvSpPr>
          <p:cNvPr name="TextBox 20" id="20"/>
          <p:cNvSpPr txBox="true"/>
          <p:nvPr/>
        </p:nvSpPr>
        <p:spPr>
          <a:xfrm rot="0">
            <a:off x="3035166" y="7080512"/>
            <a:ext cx="11472991" cy="398145"/>
          </a:xfrm>
          <a:prstGeom prst="rect">
            <a:avLst/>
          </a:prstGeom>
        </p:spPr>
        <p:txBody>
          <a:bodyPr anchor="t" rtlCol="false" tIns="0" lIns="0" bIns="0" rIns="0">
            <a:spAutoFit/>
          </a:bodyPr>
          <a:lstStyle/>
          <a:p>
            <a:pPr algn="l" marL="0" indent="0" lvl="0">
              <a:lnSpc>
                <a:spcPts val="3254"/>
              </a:lnSpc>
            </a:pPr>
            <a:r>
              <a:rPr lang="en-US" sz="2325">
                <a:solidFill>
                  <a:srgbClr val="F8FAFC"/>
                </a:solidFill>
                <a:latin typeface="Inter"/>
                <a:ea typeface="Inter"/>
                <a:cs typeface="Inter"/>
                <a:sym typeface="Inter"/>
              </a:rPr>
              <a:t>Group - 11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59117" y="353306"/>
            <a:ext cx="17577122" cy="9789475"/>
            <a:chOff x="0" y="0"/>
            <a:chExt cx="4629365" cy="2578298"/>
          </a:xfrm>
        </p:grpSpPr>
        <p:sp>
          <p:nvSpPr>
            <p:cNvPr name="Freeform 3" id="3"/>
            <p:cNvSpPr/>
            <p:nvPr/>
          </p:nvSpPr>
          <p:spPr>
            <a:xfrm flipH="false" flipV="false" rot="0">
              <a:off x="0" y="0"/>
              <a:ext cx="4629365" cy="2578298"/>
            </a:xfrm>
            <a:custGeom>
              <a:avLst/>
              <a:gdLst/>
              <a:ahLst/>
              <a:cxnLst/>
              <a:rect r="r" b="b" t="t" l="l"/>
              <a:pathLst>
                <a:path h="2578298" w="4629365">
                  <a:moveTo>
                    <a:pt x="22463" y="0"/>
                  </a:moveTo>
                  <a:lnTo>
                    <a:pt x="4606903" y="0"/>
                  </a:lnTo>
                  <a:cubicBezTo>
                    <a:pt x="4619308" y="0"/>
                    <a:pt x="4629365" y="10057"/>
                    <a:pt x="4629365" y="22463"/>
                  </a:cubicBezTo>
                  <a:lnTo>
                    <a:pt x="4629365" y="2555835"/>
                  </a:lnTo>
                  <a:cubicBezTo>
                    <a:pt x="4629365" y="2561792"/>
                    <a:pt x="4626999" y="2567506"/>
                    <a:pt x="4622786" y="2571719"/>
                  </a:cubicBezTo>
                  <a:cubicBezTo>
                    <a:pt x="4618574" y="2575931"/>
                    <a:pt x="4612860" y="2578298"/>
                    <a:pt x="4606903" y="2578298"/>
                  </a:cubicBezTo>
                  <a:lnTo>
                    <a:pt x="22463" y="2578298"/>
                  </a:lnTo>
                  <a:cubicBezTo>
                    <a:pt x="16506" y="2578298"/>
                    <a:pt x="10792" y="2575931"/>
                    <a:pt x="6579" y="2571719"/>
                  </a:cubicBezTo>
                  <a:cubicBezTo>
                    <a:pt x="2367" y="2567506"/>
                    <a:pt x="0" y="2561792"/>
                    <a:pt x="0" y="2555835"/>
                  </a:cubicBezTo>
                  <a:lnTo>
                    <a:pt x="0" y="22463"/>
                  </a:lnTo>
                  <a:cubicBezTo>
                    <a:pt x="0" y="16506"/>
                    <a:pt x="2367" y="10792"/>
                    <a:pt x="6579" y="6579"/>
                  </a:cubicBezTo>
                  <a:cubicBezTo>
                    <a:pt x="10792" y="2367"/>
                    <a:pt x="16506" y="0"/>
                    <a:pt x="22463" y="0"/>
                  </a:cubicBezTo>
                  <a:close/>
                </a:path>
              </a:pathLst>
            </a:custGeom>
            <a:solidFill>
              <a:srgbClr val="EEF4FA"/>
            </a:solidFill>
          </p:spPr>
        </p:sp>
        <p:sp>
          <p:nvSpPr>
            <p:cNvPr name="TextBox 4" id="4"/>
            <p:cNvSpPr txBox="true"/>
            <p:nvPr/>
          </p:nvSpPr>
          <p:spPr>
            <a:xfrm>
              <a:off x="0" y="-38100"/>
              <a:ext cx="4629365" cy="2616398"/>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11273042" y="2075343"/>
            <a:ext cx="6383522" cy="7182957"/>
            <a:chOff x="0" y="0"/>
            <a:chExt cx="988975" cy="1112828"/>
          </a:xfrm>
        </p:grpSpPr>
        <p:sp>
          <p:nvSpPr>
            <p:cNvPr name="Freeform 6" id="6"/>
            <p:cNvSpPr/>
            <p:nvPr/>
          </p:nvSpPr>
          <p:spPr>
            <a:xfrm flipH="false" flipV="false" rot="0">
              <a:off x="0" y="0"/>
              <a:ext cx="988975" cy="1112828"/>
            </a:xfrm>
            <a:custGeom>
              <a:avLst/>
              <a:gdLst/>
              <a:ahLst/>
              <a:cxnLst/>
              <a:rect r="r" b="b" t="t" l="l"/>
              <a:pathLst>
                <a:path h="1112828" w="988975">
                  <a:moveTo>
                    <a:pt x="27894" y="0"/>
                  </a:moveTo>
                  <a:lnTo>
                    <a:pt x="961080" y="0"/>
                  </a:lnTo>
                  <a:cubicBezTo>
                    <a:pt x="976486" y="0"/>
                    <a:pt x="988975" y="12489"/>
                    <a:pt x="988975" y="27894"/>
                  </a:cubicBezTo>
                  <a:lnTo>
                    <a:pt x="988975" y="1084934"/>
                  </a:lnTo>
                  <a:cubicBezTo>
                    <a:pt x="988975" y="1100339"/>
                    <a:pt x="976486" y="1112828"/>
                    <a:pt x="961080" y="1112828"/>
                  </a:cubicBezTo>
                  <a:lnTo>
                    <a:pt x="27894" y="1112828"/>
                  </a:lnTo>
                  <a:cubicBezTo>
                    <a:pt x="12489" y="1112828"/>
                    <a:pt x="0" y="1100339"/>
                    <a:pt x="0" y="1084934"/>
                  </a:cubicBezTo>
                  <a:lnTo>
                    <a:pt x="0" y="27894"/>
                  </a:lnTo>
                  <a:cubicBezTo>
                    <a:pt x="0" y="12489"/>
                    <a:pt x="12489" y="0"/>
                    <a:pt x="27894" y="0"/>
                  </a:cubicBezTo>
                  <a:close/>
                </a:path>
              </a:pathLst>
            </a:custGeom>
            <a:blipFill>
              <a:blip r:embed="rId2"/>
              <a:stretch>
                <a:fillRect l="-424" t="0" r="-424" b="0"/>
              </a:stretch>
            </a:blipFill>
          </p:spPr>
        </p:sp>
      </p:grpSp>
      <p:sp>
        <p:nvSpPr>
          <p:cNvPr name="TextBox 7" id="7"/>
          <p:cNvSpPr txBox="true"/>
          <p:nvPr/>
        </p:nvSpPr>
        <p:spPr>
          <a:xfrm rot="0">
            <a:off x="632830" y="1963392"/>
            <a:ext cx="10640211" cy="8179388"/>
          </a:xfrm>
          <a:prstGeom prst="rect">
            <a:avLst/>
          </a:prstGeom>
        </p:spPr>
        <p:txBody>
          <a:bodyPr anchor="t" rtlCol="false" tIns="0" lIns="0" bIns="0" rIns="0">
            <a:spAutoFit/>
          </a:bodyPr>
          <a:lstStyle/>
          <a:p>
            <a:pPr algn="l" marL="507766" indent="-253883" lvl="1">
              <a:lnSpc>
                <a:spcPts val="3292"/>
              </a:lnSpc>
              <a:buFont typeface="Arial"/>
              <a:buChar char="•"/>
            </a:pPr>
            <a:r>
              <a:rPr lang="en-US" sz="2351">
                <a:solidFill>
                  <a:srgbClr val="475569"/>
                </a:solidFill>
                <a:latin typeface="Inter"/>
                <a:ea typeface="Inter"/>
                <a:cs typeface="Inter"/>
                <a:sym typeface="Inter"/>
              </a:rPr>
              <a:t>Too few bikes: lost rides and lost revenue </a:t>
            </a:r>
          </a:p>
          <a:p>
            <a:pPr algn="l" marL="507766" indent="-253883" lvl="1">
              <a:lnSpc>
                <a:spcPts val="3292"/>
              </a:lnSpc>
              <a:buFont typeface="Arial"/>
              <a:buChar char="•"/>
            </a:pPr>
            <a:r>
              <a:rPr lang="en-US" sz="2351">
                <a:solidFill>
                  <a:srgbClr val="475569"/>
                </a:solidFill>
                <a:latin typeface="Inter"/>
                <a:ea typeface="Inter"/>
                <a:cs typeface="Inter"/>
                <a:sym typeface="Inter"/>
              </a:rPr>
              <a:t>Too many bikes: idle bikes and higher rebalancing costs</a:t>
            </a:r>
          </a:p>
          <a:p>
            <a:pPr algn="l" marL="507766" indent="-253883" lvl="1">
              <a:lnSpc>
                <a:spcPts val="3292"/>
              </a:lnSpc>
              <a:buFont typeface="Arial"/>
              <a:buChar char="•"/>
            </a:pPr>
            <a:r>
              <a:rPr lang="en-US" sz="2351">
                <a:solidFill>
                  <a:srgbClr val="475569"/>
                </a:solidFill>
                <a:latin typeface="Inter"/>
                <a:ea typeface="Inter"/>
                <a:cs typeface="Inter"/>
                <a:sym typeface="Inter"/>
              </a:rPr>
              <a:t>Demand changes with hour, season, weather and day type </a:t>
            </a:r>
          </a:p>
          <a:p>
            <a:pPr algn="l" marL="507766" indent="-253883" lvl="1">
              <a:lnSpc>
                <a:spcPts val="3292"/>
              </a:lnSpc>
              <a:buFont typeface="Arial"/>
              <a:buChar char="•"/>
            </a:pPr>
            <a:r>
              <a:rPr lang="en-US" sz="2351">
                <a:solidFill>
                  <a:srgbClr val="475569"/>
                </a:solidFill>
                <a:latin typeface="Inter"/>
                <a:ea typeface="Inter"/>
                <a:cs typeface="Inter"/>
                <a:sym typeface="Inter"/>
              </a:rPr>
              <a:t>Fixed stocking rules perform poorly </a:t>
            </a:r>
          </a:p>
          <a:p>
            <a:pPr algn="l" marL="0" indent="0" lvl="0">
              <a:lnSpc>
                <a:spcPts val="3292"/>
              </a:lnSpc>
            </a:pPr>
            <a:r>
              <a:rPr lang="en-US" b="true" sz="2351">
                <a:solidFill>
                  <a:srgbClr val="475569"/>
                </a:solidFill>
                <a:latin typeface="Inter Bold"/>
                <a:ea typeface="Inter Bold"/>
                <a:cs typeface="Inter Bold"/>
                <a:sym typeface="Inter Bold"/>
              </a:rPr>
              <a:t>Need: </a:t>
            </a:r>
            <a:r>
              <a:rPr lang="en-US" sz="2351">
                <a:solidFill>
                  <a:srgbClr val="475569"/>
                </a:solidFill>
                <a:latin typeface="Inter"/>
                <a:ea typeface="Inter"/>
                <a:cs typeface="Inter"/>
                <a:sym typeface="Inter"/>
              </a:rPr>
              <a:t>forecast hourly demand and turn it into a cost-effective fleet decision</a:t>
            </a:r>
          </a:p>
          <a:p>
            <a:pPr algn="l" marL="0" indent="0" lvl="0">
              <a:lnSpc>
                <a:spcPts val="3292"/>
              </a:lnSpc>
            </a:pPr>
          </a:p>
          <a:p>
            <a:pPr algn="l" marL="0" indent="0" lvl="0">
              <a:lnSpc>
                <a:spcPts val="3292"/>
              </a:lnSpc>
            </a:pPr>
            <a:r>
              <a:rPr lang="en-US" b="true" sz="2351">
                <a:solidFill>
                  <a:srgbClr val="475569"/>
                </a:solidFill>
                <a:latin typeface="Inter Bold"/>
                <a:ea typeface="Inter Bold"/>
                <a:cs typeface="Inter Bold"/>
                <a:sym typeface="Inter Bold"/>
              </a:rPr>
              <a:t>Dataset:</a:t>
            </a:r>
            <a:r>
              <a:rPr lang="en-US" sz="2351">
                <a:solidFill>
                  <a:srgbClr val="475569"/>
                </a:solidFill>
                <a:latin typeface="Inter"/>
                <a:ea typeface="Inter"/>
                <a:cs typeface="Inter"/>
                <a:sym typeface="Inter"/>
              </a:rPr>
              <a:t> UCI Bike Sharing (2011-2012), about 17,000 hourly records with weather, season, hour and day-type features. The target is hourly rentals (cnt).</a:t>
            </a:r>
          </a:p>
          <a:p>
            <a:pPr algn="l" marL="0" indent="0" lvl="0">
              <a:lnSpc>
                <a:spcPts val="3292"/>
              </a:lnSpc>
            </a:pPr>
          </a:p>
          <a:p>
            <a:pPr algn="l" marL="0" indent="0" lvl="0">
              <a:lnSpc>
                <a:spcPts val="3292"/>
              </a:lnSpc>
            </a:pPr>
            <a:r>
              <a:rPr lang="en-US" b="true" sz="2351">
                <a:solidFill>
                  <a:srgbClr val="475569"/>
                </a:solidFill>
                <a:latin typeface="Inter Bold"/>
                <a:ea typeface="Inter Bold"/>
                <a:cs typeface="Inter Bold"/>
                <a:sym typeface="Inter Bold"/>
              </a:rPr>
              <a:t>Objectives:</a:t>
            </a:r>
          </a:p>
          <a:p>
            <a:pPr algn="l" marL="0" indent="0" lvl="0">
              <a:lnSpc>
                <a:spcPts val="3292"/>
              </a:lnSpc>
            </a:pPr>
            <a:r>
              <a:rPr lang="en-US" sz="2351">
                <a:solidFill>
                  <a:srgbClr val="475569"/>
                </a:solidFill>
                <a:latin typeface="Inter"/>
                <a:ea typeface="Inter"/>
                <a:cs typeface="Inter"/>
                <a:sym typeface="Inter"/>
              </a:rPr>
              <a:t>1. Clean and validate the hourly dataset</a:t>
            </a:r>
          </a:p>
          <a:p>
            <a:pPr algn="l" marL="0" indent="0" lvl="0">
              <a:lnSpc>
                <a:spcPts val="3292"/>
              </a:lnSpc>
            </a:pPr>
            <a:r>
              <a:rPr lang="en-US" sz="2351">
                <a:solidFill>
                  <a:srgbClr val="475569"/>
                </a:solidFill>
                <a:latin typeface="Inter"/>
                <a:ea typeface="Inter"/>
                <a:cs typeface="Inter"/>
                <a:sym typeface="Inter"/>
              </a:rPr>
              <a:t>2. Analyze how time, season, weather and rider type affect demand</a:t>
            </a:r>
          </a:p>
          <a:p>
            <a:pPr algn="l" marL="0" indent="0" lvl="0">
              <a:lnSpc>
                <a:spcPts val="3292"/>
              </a:lnSpc>
            </a:pPr>
            <a:r>
              <a:rPr lang="en-US" sz="2351">
                <a:solidFill>
                  <a:srgbClr val="475569"/>
                </a:solidFill>
                <a:latin typeface="Inter"/>
                <a:ea typeface="Inter"/>
                <a:cs typeface="Inter"/>
                <a:sym typeface="Inter"/>
              </a:rPr>
              <a:t>3. Build and tune a Random Forest forecasting model</a:t>
            </a:r>
          </a:p>
          <a:p>
            <a:pPr algn="l" marL="0" indent="0" lvl="0">
              <a:lnSpc>
                <a:spcPts val="3292"/>
              </a:lnSpc>
            </a:pPr>
            <a:r>
              <a:rPr lang="en-US" sz="2351">
                <a:solidFill>
                  <a:srgbClr val="475569"/>
                </a:solidFill>
                <a:latin typeface="Inter"/>
                <a:ea typeface="Inter"/>
                <a:cs typeface="Inter"/>
                <a:sym typeface="Inter"/>
              </a:rPr>
              <a:t>4. Evaluate with RMSE, R², MAPE and peak-hour error</a:t>
            </a:r>
          </a:p>
          <a:p>
            <a:pPr algn="l" marL="0" indent="0" lvl="0">
              <a:lnSpc>
                <a:spcPts val="3292"/>
              </a:lnSpc>
            </a:pPr>
            <a:r>
              <a:rPr lang="en-US" sz="2351">
                <a:solidFill>
                  <a:srgbClr val="475569"/>
                </a:solidFill>
                <a:latin typeface="Inter"/>
                <a:ea typeface="Inter"/>
                <a:cs typeface="Inter"/>
                <a:sym typeface="Inter"/>
              </a:rPr>
              <a:t>5. Convert forecasts into a recommended fleet using a safety margin</a:t>
            </a:r>
          </a:p>
          <a:p>
            <a:pPr algn="l" marL="0" indent="0" lvl="0">
              <a:lnSpc>
                <a:spcPts val="3292"/>
              </a:lnSpc>
            </a:pPr>
            <a:r>
              <a:rPr lang="en-US" sz="2351">
                <a:solidFill>
                  <a:srgbClr val="475569"/>
                </a:solidFill>
                <a:latin typeface="Inter"/>
                <a:ea typeface="Inter"/>
                <a:cs typeface="Inter"/>
                <a:sym typeface="Inter"/>
              </a:rPr>
              <a:t>6. Find the safety margin with the lowest total cost</a:t>
            </a:r>
          </a:p>
          <a:p>
            <a:pPr algn="l">
              <a:lnSpc>
                <a:spcPts val="3292"/>
              </a:lnSpc>
            </a:pPr>
          </a:p>
          <a:p>
            <a:pPr algn="l" marL="0" indent="0" lvl="0">
              <a:lnSpc>
                <a:spcPts val="3292"/>
              </a:lnSpc>
            </a:pPr>
            <a:r>
              <a:rPr lang="en-US" b="true" sz="2351">
                <a:solidFill>
                  <a:srgbClr val="475569"/>
                </a:solidFill>
                <a:latin typeface="Inter Bold"/>
                <a:ea typeface="Inter Bold"/>
                <a:cs typeface="Inter Bold"/>
                <a:sym typeface="Inter Bold"/>
              </a:rPr>
              <a:t>Tools:</a:t>
            </a:r>
            <a:r>
              <a:rPr lang="en-US" sz="2351">
                <a:solidFill>
                  <a:srgbClr val="475569"/>
                </a:solidFill>
                <a:latin typeface="Inter"/>
                <a:ea typeface="Inter"/>
                <a:cs typeface="Inter"/>
                <a:sym typeface="Inter"/>
              </a:rPr>
              <a:t> Python, Pandas, Scikit-learn, Matplotlib, Seaborn, Google Colab</a:t>
            </a:r>
          </a:p>
          <a:p>
            <a:pPr algn="l" marL="0" indent="0" lvl="0">
              <a:lnSpc>
                <a:spcPts val="3292"/>
              </a:lnSpc>
            </a:pPr>
          </a:p>
        </p:txBody>
      </p:sp>
      <p:sp>
        <p:nvSpPr>
          <p:cNvPr name="TextBox 8" id="8"/>
          <p:cNvSpPr txBox="true"/>
          <p:nvPr/>
        </p:nvSpPr>
        <p:spPr>
          <a:xfrm rot="0">
            <a:off x="632830" y="373277"/>
            <a:ext cx="16266072" cy="655423"/>
          </a:xfrm>
          <a:prstGeom prst="rect">
            <a:avLst/>
          </a:prstGeom>
        </p:spPr>
        <p:txBody>
          <a:bodyPr anchor="t" rtlCol="false" tIns="0" lIns="0" bIns="0" rIns="0">
            <a:spAutoFit/>
          </a:bodyPr>
          <a:lstStyle/>
          <a:p>
            <a:pPr algn="l" marL="0" indent="0" lvl="0">
              <a:lnSpc>
                <a:spcPts val="5349"/>
              </a:lnSpc>
            </a:pPr>
            <a:r>
              <a:rPr lang="en-US" b="true" sz="3820">
                <a:solidFill>
                  <a:srgbClr val="0F172A"/>
                </a:solidFill>
                <a:latin typeface="DM Sans Bold"/>
                <a:ea typeface="DM Sans Bold"/>
                <a:cs typeface="DM Sans Bold"/>
                <a:sym typeface="DM Sans Bold"/>
              </a:rPr>
              <a:t>Sma</a:t>
            </a:r>
            <a:r>
              <a:rPr lang="en-US" b="true" sz="3820">
                <a:solidFill>
                  <a:srgbClr val="0F172A"/>
                </a:solidFill>
                <a:latin typeface="DM Sans Bold"/>
                <a:ea typeface="DM Sans Bold"/>
                <a:cs typeface="DM Sans Bold"/>
                <a:sym typeface="DM Sans Bold"/>
              </a:rPr>
              <a:t>rt Bike Fleet Rebalancing: Forecasting Hourly Bike-Share Demand</a:t>
            </a:r>
          </a:p>
        </p:txBody>
      </p:sp>
      <p:sp>
        <p:nvSpPr>
          <p:cNvPr name="TextBox 9" id="9"/>
          <p:cNvSpPr txBox="true"/>
          <p:nvPr/>
        </p:nvSpPr>
        <p:spPr>
          <a:xfrm rot="0">
            <a:off x="-188062" y="1190706"/>
            <a:ext cx="8640300" cy="646430"/>
          </a:xfrm>
          <a:prstGeom prst="rect">
            <a:avLst/>
          </a:prstGeom>
        </p:spPr>
        <p:txBody>
          <a:bodyPr anchor="t" rtlCol="false" tIns="0" lIns="0" bIns="0" rIns="0">
            <a:spAutoFit/>
          </a:bodyPr>
          <a:lstStyle/>
          <a:p>
            <a:pPr algn="ctr">
              <a:lnSpc>
                <a:spcPts val="5320"/>
              </a:lnSpc>
              <a:spcBef>
                <a:spcPct val="0"/>
              </a:spcBef>
            </a:pPr>
            <a:r>
              <a:rPr lang="en-US" b="true" sz="3800">
                <a:solidFill>
                  <a:srgbClr val="000000"/>
                </a:solidFill>
                <a:latin typeface="Inter Bold"/>
                <a:ea typeface="Inter Bold"/>
                <a:cs typeface="Inter Bold"/>
                <a:sym typeface="Inter Bold"/>
              </a:rPr>
              <a:t>Project Statement &amp; Objective</a:t>
            </a:r>
          </a:p>
        </p:txBody>
      </p:sp>
    </p:spTree>
  </p:cSld>
  <p:clrMapOvr>
    <a:masterClrMapping/>
  </p:clrMapOvr>
  <p:transition spd="slow">
    <p:push dir="l"/>
  </p:transition>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83158" y="177157"/>
            <a:ext cx="17945171" cy="9932685"/>
            <a:chOff x="0" y="0"/>
            <a:chExt cx="4726300" cy="2616016"/>
          </a:xfrm>
        </p:grpSpPr>
        <p:sp>
          <p:nvSpPr>
            <p:cNvPr name="Freeform 3" id="3"/>
            <p:cNvSpPr/>
            <p:nvPr/>
          </p:nvSpPr>
          <p:spPr>
            <a:xfrm flipH="false" flipV="false" rot="0">
              <a:off x="0" y="0"/>
              <a:ext cx="4726300" cy="2616016"/>
            </a:xfrm>
            <a:custGeom>
              <a:avLst/>
              <a:gdLst/>
              <a:ahLst/>
              <a:cxnLst/>
              <a:rect r="r" b="b" t="t" l="l"/>
              <a:pathLst>
                <a:path h="2616016" w="4726300">
                  <a:moveTo>
                    <a:pt x="22002" y="0"/>
                  </a:moveTo>
                  <a:lnTo>
                    <a:pt x="4704298" y="0"/>
                  </a:lnTo>
                  <a:cubicBezTo>
                    <a:pt x="4710133" y="0"/>
                    <a:pt x="4715730" y="2318"/>
                    <a:pt x="4719856" y="6444"/>
                  </a:cubicBezTo>
                  <a:cubicBezTo>
                    <a:pt x="4723982" y="10571"/>
                    <a:pt x="4726300" y="16167"/>
                    <a:pt x="4726300" y="22002"/>
                  </a:cubicBezTo>
                  <a:lnTo>
                    <a:pt x="4726300" y="2594013"/>
                  </a:lnTo>
                  <a:cubicBezTo>
                    <a:pt x="4726300" y="2599849"/>
                    <a:pt x="4723982" y="2605445"/>
                    <a:pt x="4719856" y="2609572"/>
                  </a:cubicBezTo>
                  <a:cubicBezTo>
                    <a:pt x="4715730" y="2613698"/>
                    <a:pt x="4710133" y="2616016"/>
                    <a:pt x="4704298" y="2616016"/>
                  </a:cubicBezTo>
                  <a:lnTo>
                    <a:pt x="22002" y="2616016"/>
                  </a:lnTo>
                  <a:cubicBezTo>
                    <a:pt x="16167" y="2616016"/>
                    <a:pt x="10571" y="2613698"/>
                    <a:pt x="6444" y="2609572"/>
                  </a:cubicBezTo>
                  <a:cubicBezTo>
                    <a:pt x="2318" y="2605445"/>
                    <a:pt x="0" y="2599849"/>
                    <a:pt x="0" y="2594013"/>
                  </a:cubicBezTo>
                  <a:lnTo>
                    <a:pt x="0" y="22002"/>
                  </a:lnTo>
                  <a:cubicBezTo>
                    <a:pt x="0" y="16167"/>
                    <a:pt x="2318" y="10571"/>
                    <a:pt x="6444" y="6444"/>
                  </a:cubicBezTo>
                  <a:cubicBezTo>
                    <a:pt x="10571" y="2318"/>
                    <a:pt x="16167" y="0"/>
                    <a:pt x="22002" y="0"/>
                  </a:cubicBezTo>
                  <a:close/>
                </a:path>
              </a:pathLst>
            </a:custGeom>
            <a:solidFill>
              <a:srgbClr val="EEF4FA"/>
            </a:solidFill>
          </p:spPr>
        </p:sp>
        <p:sp>
          <p:nvSpPr>
            <p:cNvPr name="TextBox 4" id="4"/>
            <p:cNvSpPr txBox="true"/>
            <p:nvPr/>
          </p:nvSpPr>
          <p:spPr>
            <a:xfrm>
              <a:off x="0" y="-38100"/>
              <a:ext cx="4726300" cy="2654116"/>
            </a:xfrm>
            <a:prstGeom prst="rect">
              <a:avLst/>
            </a:prstGeom>
          </p:spPr>
          <p:txBody>
            <a:bodyPr anchor="ctr" rtlCol="false" tIns="50800" lIns="50800" bIns="50800" rIns="50800"/>
            <a:lstStyle/>
            <a:p>
              <a:pPr algn="l">
                <a:lnSpc>
                  <a:spcPts val="2659"/>
                </a:lnSpc>
                <a:spcBef>
                  <a:spcPct val="0"/>
                </a:spcBef>
              </a:pPr>
            </a:p>
          </p:txBody>
        </p:sp>
      </p:grpSp>
      <p:sp>
        <p:nvSpPr>
          <p:cNvPr name="TextBox 5" id="5"/>
          <p:cNvSpPr txBox="true"/>
          <p:nvPr/>
        </p:nvSpPr>
        <p:spPr>
          <a:xfrm rot="0">
            <a:off x="502525" y="451396"/>
            <a:ext cx="17282950" cy="931199"/>
          </a:xfrm>
          <a:prstGeom prst="rect">
            <a:avLst/>
          </a:prstGeom>
        </p:spPr>
        <p:txBody>
          <a:bodyPr anchor="t" rtlCol="false" tIns="0" lIns="0" bIns="0" rIns="0">
            <a:spAutoFit/>
          </a:bodyPr>
          <a:lstStyle/>
          <a:p>
            <a:pPr algn="ctr" marL="0" indent="0" lvl="0">
              <a:lnSpc>
                <a:spcPts val="6987"/>
              </a:lnSpc>
            </a:pPr>
            <a:r>
              <a:rPr lang="en-US" b="true" sz="7058">
                <a:solidFill>
                  <a:srgbClr val="1F3A5F"/>
                </a:solidFill>
                <a:latin typeface="DM Sans Bold"/>
                <a:ea typeface="DM Sans Bold"/>
                <a:cs typeface="DM Sans Bold"/>
                <a:sym typeface="DM Sans Bold"/>
              </a:rPr>
              <a:t>Data Quality &amp; Data Preparation</a:t>
            </a:r>
          </a:p>
        </p:txBody>
      </p:sp>
      <p:sp>
        <p:nvSpPr>
          <p:cNvPr name="TextBox 6" id="6"/>
          <p:cNvSpPr txBox="true"/>
          <p:nvPr/>
        </p:nvSpPr>
        <p:spPr>
          <a:xfrm rot="0">
            <a:off x="1341599" y="6803616"/>
            <a:ext cx="716739" cy="412795"/>
          </a:xfrm>
          <a:prstGeom prst="rect">
            <a:avLst/>
          </a:prstGeom>
        </p:spPr>
        <p:txBody>
          <a:bodyPr anchor="t" rtlCol="false" tIns="0" lIns="0" bIns="0" rIns="0">
            <a:spAutoFit/>
          </a:bodyPr>
          <a:lstStyle/>
          <a:p>
            <a:pPr algn="ctr" marL="0" indent="0" lvl="0">
              <a:lnSpc>
                <a:spcPts val="3497"/>
              </a:lnSpc>
            </a:pPr>
            <a:r>
              <a:rPr lang="en-US" b="true" sz="2498">
                <a:solidFill>
                  <a:srgbClr val="F8FAFC"/>
                </a:solidFill>
                <a:latin typeface="Inter Bold"/>
                <a:ea typeface="Inter Bold"/>
                <a:cs typeface="Inter Bold"/>
                <a:sym typeface="Inter Bold"/>
              </a:rPr>
              <a:t>01</a:t>
            </a:r>
          </a:p>
        </p:txBody>
      </p:sp>
      <p:sp>
        <p:nvSpPr>
          <p:cNvPr name="TextBox 7" id="7"/>
          <p:cNvSpPr txBox="true"/>
          <p:nvPr/>
        </p:nvSpPr>
        <p:spPr>
          <a:xfrm rot="0">
            <a:off x="1341599" y="8845505"/>
            <a:ext cx="716739" cy="412795"/>
          </a:xfrm>
          <a:prstGeom prst="rect">
            <a:avLst/>
          </a:prstGeom>
        </p:spPr>
        <p:txBody>
          <a:bodyPr anchor="t" rtlCol="false" tIns="0" lIns="0" bIns="0" rIns="0">
            <a:spAutoFit/>
          </a:bodyPr>
          <a:lstStyle/>
          <a:p>
            <a:pPr algn="ctr" marL="0" indent="0" lvl="0">
              <a:lnSpc>
                <a:spcPts val="3497"/>
              </a:lnSpc>
            </a:pPr>
            <a:r>
              <a:rPr lang="en-US" b="true" sz="2498">
                <a:solidFill>
                  <a:srgbClr val="F8FAFC"/>
                </a:solidFill>
                <a:latin typeface="Inter Bold"/>
                <a:ea typeface="Inter Bold"/>
                <a:cs typeface="Inter Bold"/>
                <a:sym typeface="Inter Bold"/>
              </a:rPr>
              <a:t>02</a:t>
            </a:r>
          </a:p>
        </p:txBody>
      </p:sp>
      <p:sp>
        <p:nvSpPr>
          <p:cNvPr name="TextBox 8" id="8"/>
          <p:cNvSpPr txBox="true"/>
          <p:nvPr/>
        </p:nvSpPr>
        <p:spPr>
          <a:xfrm rot="0">
            <a:off x="7140708" y="6803616"/>
            <a:ext cx="716739" cy="412795"/>
          </a:xfrm>
          <a:prstGeom prst="rect">
            <a:avLst/>
          </a:prstGeom>
        </p:spPr>
        <p:txBody>
          <a:bodyPr anchor="t" rtlCol="false" tIns="0" lIns="0" bIns="0" rIns="0">
            <a:spAutoFit/>
          </a:bodyPr>
          <a:lstStyle/>
          <a:p>
            <a:pPr algn="ctr" marL="0" indent="0" lvl="0">
              <a:lnSpc>
                <a:spcPts val="3497"/>
              </a:lnSpc>
            </a:pPr>
            <a:r>
              <a:rPr lang="en-US" b="true" sz="2498">
                <a:solidFill>
                  <a:srgbClr val="F8FAFC"/>
                </a:solidFill>
                <a:latin typeface="Inter Bold"/>
                <a:ea typeface="Inter Bold"/>
                <a:cs typeface="Inter Bold"/>
                <a:sym typeface="Inter Bold"/>
              </a:rPr>
              <a:t>03</a:t>
            </a:r>
          </a:p>
        </p:txBody>
      </p:sp>
      <p:sp>
        <p:nvSpPr>
          <p:cNvPr name="TextBox 9" id="9"/>
          <p:cNvSpPr txBox="true"/>
          <p:nvPr/>
        </p:nvSpPr>
        <p:spPr>
          <a:xfrm rot="0">
            <a:off x="7140708" y="8485700"/>
            <a:ext cx="716739" cy="412795"/>
          </a:xfrm>
          <a:prstGeom prst="rect">
            <a:avLst/>
          </a:prstGeom>
        </p:spPr>
        <p:txBody>
          <a:bodyPr anchor="t" rtlCol="false" tIns="0" lIns="0" bIns="0" rIns="0">
            <a:spAutoFit/>
          </a:bodyPr>
          <a:lstStyle/>
          <a:p>
            <a:pPr algn="ctr" marL="0" indent="0" lvl="0">
              <a:lnSpc>
                <a:spcPts val="3497"/>
              </a:lnSpc>
            </a:pPr>
            <a:r>
              <a:rPr lang="en-US" b="true" sz="2498">
                <a:solidFill>
                  <a:srgbClr val="F8FAFC"/>
                </a:solidFill>
                <a:latin typeface="Inter Bold"/>
                <a:ea typeface="Inter Bold"/>
                <a:cs typeface="Inter Bold"/>
                <a:sym typeface="Inter Bold"/>
              </a:rPr>
              <a:t>04</a:t>
            </a:r>
          </a:p>
        </p:txBody>
      </p:sp>
      <p:sp>
        <p:nvSpPr>
          <p:cNvPr name="TextBox 10" id="10"/>
          <p:cNvSpPr txBox="true"/>
          <p:nvPr/>
        </p:nvSpPr>
        <p:spPr>
          <a:xfrm rot="0">
            <a:off x="729062" y="2019007"/>
            <a:ext cx="14256772" cy="7316106"/>
          </a:xfrm>
          <a:prstGeom prst="rect">
            <a:avLst/>
          </a:prstGeom>
        </p:spPr>
        <p:txBody>
          <a:bodyPr anchor="t" rtlCol="false" tIns="0" lIns="0" bIns="0" rIns="0">
            <a:spAutoFit/>
          </a:bodyPr>
          <a:lstStyle/>
          <a:p>
            <a:pPr algn="l">
              <a:lnSpc>
                <a:spcPts val="4150"/>
              </a:lnSpc>
            </a:pPr>
            <a:r>
              <a:rPr lang="en-US" sz="2964" b="true">
                <a:solidFill>
                  <a:srgbClr val="1F3A5F"/>
                </a:solidFill>
                <a:latin typeface="Canva Sans Bold"/>
                <a:ea typeface="Canva Sans Bold"/>
                <a:cs typeface="Canva Sans Bold"/>
                <a:sym typeface="Canva Sans Bold"/>
              </a:rPr>
              <a:t>Data Quality &amp; Validation</a:t>
            </a:r>
          </a:p>
          <a:p>
            <a:pPr algn="l" marL="640002" indent="-320001" lvl="1">
              <a:lnSpc>
                <a:spcPts val="4150"/>
              </a:lnSpc>
              <a:buFont typeface="Arial"/>
              <a:buChar char="•"/>
            </a:pPr>
            <a:r>
              <a:rPr lang="en-US" sz="2964">
                <a:solidFill>
                  <a:srgbClr val="0D0D0E"/>
                </a:solidFill>
                <a:latin typeface="Canva Sans"/>
                <a:ea typeface="Canva Sans"/>
                <a:cs typeface="Canva Sans"/>
                <a:sym typeface="Canva Sans"/>
              </a:rPr>
              <a:t> </a:t>
            </a:r>
            <a:r>
              <a:rPr lang="en-US" sz="2964">
                <a:solidFill>
                  <a:srgbClr val="0D0D0E"/>
                </a:solidFill>
                <a:latin typeface="Canva Sans"/>
                <a:ea typeface="Canva Sans"/>
                <a:cs typeface="Canva Sans"/>
                <a:sym typeface="Canva Sans"/>
              </a:rPr>
              <a:t>Dataset: 17,379 records | 17 columns. </a:t>
            </a:r>
          </a:p>
          <a:p>
            <a:pPr algn="l" marL="640002" indent="-320001" lvl="1">
              <a:lnSpc>
                <a:spcPts val="4150"/>
              </a:lnSpc>
              <a:buFont typeface="Arial"/>
              <a:buChar char="•"/>
            </a:pPr>
            <a:r>
              <a:rPr lang="en-US" sz="2964">
                <a:solidFill>
                  <a:srgbClr val="0D0D0E"/>
                </a:solidFill>
                <a:latin typeface="Canva Sans"/>
                <a:ea typeface="Canva Sans"/>
                <a:cs typeface="Canva Sans"/>
                <a:sym typeface="Canva Sans"/>
              </a:rPr>
              <a:t> </a:t>
            </a:r>
            <a:r>
              <a:rPr lang="en-US" sz="2964">
                <a:solidFill>
                  <a:srgbClr val="0D0D0E"/>
                </a:solidFill>
                <a:latin typeface="Canva Sans"/>
                <a:ea typeface="Canva Sans"/>
                <a:cs typeface="Canva Sans"/>
                <a:sym typeface="Canva Sans"/>
              </a:rPr>
              <a:t>0 missing values | 0 duplicate records.</a:t>
            </a:r>
          </a:p>
          <a:p>
            <a:pPr algn="l" marL="640002" indent="-320001" lvl="1">
              <a:lnSpc>
                <a:spcPts val="4150"/>
              </a:lnSpc>
              <a:buFont typeface="Arial"/>
              <a:buChar char="•"/>
            </a:pPr>
            <a:r>
              <a:rPr lang="en-US" sz="2964">
                <a:solidFill>
                  <a:srgbClr val="0D0D0E"/>
                </a:solidFill>
                <a:latin typeface="Canva Sans"/>
                <a:ea typeface="Canva Sans"/>
                <a:cs typeface="Canva Sans"/>
                <a:sym typeface="Canva Sans"/>
              </a:rPr>
              <a:t> </a:t>
            </a:r>
            <a:r>
              <a:rPr lang="en-US" sz="2964">
                <a:solidFill>
                  <a:srgbClr val="0D0D0E"/>
                </a:solidFill>
                <a:latin typeface="Canva Sans"/>
                <a:ea typeface="Canva Sans"/>
                <a:cs typeface="Canva Sans"/>
                <a:sym typeface="Canva Sans"/>
              </a:rPr>
              <a:t>Validated hr, season, mnth, temp, hum and windspeed.</a:t>
            </a:r>
          </a:p>
          <a:p>
            <a:pPr algn="l" marL="640002" indent="-320001" lvl="1">
              <a:lnSpc>
                <a:spcPts val="4150"/>
              </a:lnSpc>
              <a:buFont typeface="Arial"/>
              <a:buChar char="•"/>
            </a:pPr>
            <a:r>
              <a:rPr lang="en-US" sz="2964">
                <a:solidFill>
                  <a:srgbClr val="0D0D0E"/>
                </a:solidFill>
                <a:latin typeface="Canva Sans"/>
                <a:ea typeface="Canva Sans"/>
                <a:cs typeface="Canva Sans"/>
                <a:sym typeface="Canva Sans"/>
              </a:rPr>
              <a:t> </a:t>
            </a:r>
            <a:r>
              <a:rPr lang="en-US" sz="2964">
                <a:solidFill>
                  <a:srgbClr val="0D0D0E"/>
                </a:solidFill>
                <a:latin typeface="Canva Sans"/>
                <a:ea typeface="Canva Sans"/>
                <a:cs typeface="Canva Sans"/>
                <a:sym typeface="Canva Sans"/>
              </a:rPr>
              <a:t>0 invalid values found.</a:t>
            </a:r>
          </a:p>
          <a:p>
            <a:pPr algn="l" marL="640002" indent="-320001" lvl="1">
              <a:lnSpc>
                <a:spcPts val="4150"/>
              </a:lnSpc>
              <a:buFont typeface="Arial"/>
              <a:buChar char="•"/>
            </a:pPr>
            <a:r>
              <a:rPr lang="en-US" sz="2964">
                <a:solidFill>
                  <a:srgbClr val="0D0D0E"/>
                </a:solidFill>
                <a:latin typeface="Canva Sans"/>
                <a:ea typeface="Canva Sans"/>
                <a:cs typeface="Canva Sans"/>
                <a:sym typeface="Canva Sans"/>
              </a:rPr>
              <a:t> </a:t>
            </a:r>
            <a:r>
              <a:rPr lang="en-US" sz="2964">
                <a:solidFill>
                  <a:srgbClr val="0D0D0E"/>
                </a:solidFill>
                <a:latin typeface="Canva Sans"/>
                <a:ea typeface="Canva Sans"/>
                <a:cs typeface="Canva Sans"/>
                <a:sym typeface="Canva Sans"/>
              </a:rPr>
              <a:t>Converted dteday to datetime and sorted data chronologically.</a:t>
            </a:r>
          </a:p>
          <a:p>
            <a:pPr algn="l">
              <a:lnSpc>
                <a:spcPts val="4150"/>
              </a:lnSpc>
            </a:pPr>
          </a:p>
          <a:p>
            <a:pPr algn="l">
              <a:lnSpc>
                <a:spcPts val="4150"/>
              </a:lnSpc>
            </a:pPr>
            <a:r>
              <a:rPr lang="en-US" sz="2964" b="true">
                <a:solidFill>
                  <a:srgbClr val="1F3A5F"/>
                </a:solidFill>
                <a:latin typeface="Canva Sans Bold"/>
                <a:ea typeface="Canva Sans Bold"/>
                <a:cs typeface="Canva Sans Bold"/>
                <a:sym typeface="Canva Sans Bold"/>
              </a:rPr>
              <a:t>Outlier Detection</a:t>
            </a:r>
          </a:p>
          <a:p>
            <a:pPr algn="l" marL="640002" indent="-320001" lvl="1">
              <a:lnSpc>
                <a:spcPts val="4150"/>
              </a:lnSpc>
              <a:buFont typeface="Arial"/>
              <a:buChar char="•"/>
            </a:pPr>
            <a:r>
              <a:rPr lang="en-US" sz="2964">
                <a:solidFill>
                  <a:srgbClr val="0D0D0E"/>
                </a:solidFill>
                <a:latin typeface="Canva Sans"/>
                <a:ea typeface="Canva Sans"/>
                <a:cs typeface="Canva Sans"/>
                <a:sym typeface="Canva Sans"/>
              </a:rPr>
              <a:t>505 potential cnt outliers detected using the IQR method.</a:t>
            </a:r>
          </a:p>
          <a:p>
            <a:pPr algn="l" marL="640002" indent="-320001" lvl="1">
              <a:lnSpc>
                <a:spcPts val="4150"/>
              </a:lnSpc>
              <a:buFont typeface="Arial"/>
              <a:buChar char="•"/>
            </a:pPr>
            <a:r>
              <a:rPr lang="en-US" sz="2964">
                <a:solidFill>
                  <a:srgbClr val="0D0D0E"/>
                </a:solidFill>
                <a:latin typeface="Canva Sans"/>
                <a:ea typeface="Canva Sans"/>
                <a:cs typeface="Canva Sans"/>
                <a:sym typeface="Canva Sans"/>
              </a:rPr>
              <a:t>Outliers were kept because they are real high-demand hours, not errors.</a:t>
            </a:r>
          </a:p>
          <a:p>
            <a:pPr algn="l">
              <a:lnSpc>
                <a:spcPts val="4150"/>
              </a:lnSpc>
            </a:pPr>
          </a:p>
          <a:p>
            <a:pPr algn="l">
              <a:lnSpc>
                <a:spcPts val="4150"/>
              </a:lnSpc>
            </a:pPr>
            <a:r>
              <a:rPr lang="en-US" sz="2964" b="true">
                <a:solidFill>
                  <a:srgbClr val="1F3A5F"/>
                </a:solidFill>
                <a:latin typeface="Canva Sans Bold"/>
                <a:ea typeface="Canva Sans Bold"/>
                <a:cs typeface="Canva Sans Bold"/>
                <a:sym typeface="Canva Sans Bold"/>
              </a:rPr>
              <a:t>Data Quality Audit</a:t>
            </a:r>
          </a:p>
          <a:p>
            <a:pPr algn="l" marL="640002" indent="-320001" lvl="1">
              <a:lnSpc>
                <a:spcPts val="4150"/>
              </a:lnSpc>
              <a:buFont typeface="Arial"/>
              <a:buChar char="•"/>
            </a:pPr>
            <a:r>
              <a:rPr lang="en-US" sz="2964">
                <a:solidFill>
                  <a:srgbClr val="0D0D0E"/>
                </a:solidFill>
                <a:latin typeface="Canva Sans"/>
                <a:ea typeface="Canva Sans"/>
                <a:cs typeface="Canva Sans"/>
                <a:sym typeface="Canva Sans"/>
              </a:rPr>
              <a:t>Created a data-quality log recording validation and outlier checks.</a:t>
            </a:r>
          </a:p>
          <a:p>
            <a:pPr algn="l">
              <a:lnSpc>
                <a:spcPts val="4150"/>
              </a:lnSpc>
              <a:spcBef>
                <a:spcPct val="0"/>
              </a:spcBef>
            </a:pPr>
          </a:p>
        </p:txBody>
      </p:sp>
    </p:spTree>
  </p:cSld>
  <p:clrMapOvr>
    <a:masterClrMapping/>
  </p:clrMapOvr>
  <p:transition spd="slow">
    <p:push dir="l"/>
  </p:transition>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83158" y="177157"/>
            <a:ext cx="17945171" cy="9932685"/>
            <a:chOff x="0" y="0"/>
            <a:chExt cx="4726300" cy="2616016"/>
          </a:xfrm>
        </p:grpSpPr>
        <p:sp>
          <p:nvSpPr>
            <p:cNvPr name="Freeform 3" id="3"/>
            <p:cNvSpPr/>
            <p:nvPr/>
          </p:nvSpPr>
          <p:spPr>
            <a:xfrm flipH="false" flipV="false" rot="0">
              <a:off x="0" y="0"/>
              <a:ext cx="4726300" cy="2616016"/>
            </a:xfrm>
            <a:custGeom>
              <a:avLst/>
              <a:gdLst/>
              <a:ahLst/>
              <a:cxnLst/>
              <a:rect r="r" b="b" t="t" l="l"/>
              <a:pathLst>
                <a:path h="2616016" w="4726300">
                  <a:moveTo>
                    <a:pt x="22002" y="0"/>
                  </a:moveTo>
                  <a:lnTo>
                    <a:pt x="4704298" y="0"/>
                  </a:lnTo>
                  <a:cubicBezTo>
                    <a:pt x="4710133" y="0"/>
                    <a:pt x="4715730" y="2318"/>
                    <a:pt x="4719856" y="6444"/>
                  </a:cubicBezTo>
                  <a:cubicBezTo>
                    <a:pt x="4723982" y="10571"/>
                    <a:pt x="4726300" y="16167"/>
                    <a:pt x="4726300" y="22002"/>
                  </a:cubicBezTo>
                  <a:lnTo>
                    <a:pt x="4726300" y="2594013"/>
                  </a:lnTo>
                  <a:cubicBezTo>
                    <a:pt x="4726300" y="2599849"/>
                    <a:pt x="4723982" y="2605445"/>
                    <a:pt x="4719856" y="2609572"/>
                  </a:cubicBezTo>
                  <a:cubicBezTo>
                    <a:pt x="4715730" y="2613698"/>
                    <a:pt x="4710133" y="2616016"/>
                    <a:pt x="4704298" y="2616016"/>
                  </a:cubicBezTo>
                  <a:lnTo>
                    <a:pt x="22002" y="2616016"/>
                  </a:lnTo>
                  <a:cubicBezTo>
                    <a:pt x="16167" y="2616016"/>
                    <a:pt x="10571" y="2613698"/>
                    <a:pt x="6444" y="2609572"/>
                  </a:cubicBezTo>
                  <a:cubicBezTo>
                    <a:pt x="2318" y="2605445"/>
                    <a:pt x="0" y="2599849"/>
                    <a:pt x="0" y="2594013"/>
                  </a:cubicBezTo>
                  <a:lnTo>
                    <a:pt x="0" y="22002"/>
                  </a:lnTo>
                  <a:cubicBezTo>
                    <a:pt x="0" y="16167"/>
                    <a:pt x="2318" y="10571"/>
                    <a:pt x="6444" y="6444"/>
                  </a:cubicBezTo>
                  <a:cubicBezTo>
                    <a:pt x="10571" y="2318"/>
                    <a:pt x="16167" y="0"/>
                    <a:pt x="22002" y="0"/>
                  </a:cubicBezTo>
                  <a:close/>
                </a:path>
              </a:pathLst>
            </a:custGeom>
            <a:solidFill>
              <a:srgbClr val="EEF4FA"/>
            </a:solidFill>
          </p:spPr>
        </p:sp>
        <p:sp>
          <p:nvSpPr>
            <p:cNvPr name="TextBox 4" id="4"/>
            <p:cNvSpPr txBox="true"/>
            <p:nvPr/>
          </p:nvSpPr>
          <p:spPr>
            <a:xfrm>
              <a:off x="0" y="-38100"/>
              <a:ext cx="4726300" cy="2654116"/>
            </a:xfrm>
            <a:prstGeom prst="rect">
              <a:avLst/>
            </a:prstGeom>
          </p:spPr>
          <p:txBody>
            <a:bodyPr anchor="ctr" rtlCol="false" tIns="50800" lIns="50800" bIns="50800" rIns="50800"/>
            <a:lstStyle/>
            <a:p>
              <a:pPr algn="l">
                <a:lnSpc>
                  <a:spcPts val="2659"/>
                </a:lnSpc>
                <a:spcBef>
                  <a:spcPct val="0"/>
                </a:spcBef>
              </a:pPr>
            </a:p>
          </p:txBody>
        </p:sp>
      </p:grpSp>
      <p:sp>
        <p:nvSpPr>
          <p:cNvPr name="TextBox 5" id="5"/>
          <p:cNvSpPr txBox="true"/>
          <p:nvPr/>
        </p:nvSpPr>
        <p:spPr>
          <a:xfrm rot="0">
            <a:off x="662169" y="320032"/>
            <a:ext cx="17282950" cy="931199"/>
          </a:xfrm>
          <a:prstGeom prst="rect">
            <a:avLst/>
          </a:prstGeom>
        </p:spPr>
        <p:txBody>
          <a:bodyPr anchor="t" rtlCol="false" tIns="0" lIns="0" bIns="0" rIns="0">
            <a:spAutoFit/>
          </a:bodyPr>
          <a:lstStyle/>
          <a:p>
            <a:pPr algn="ctr" marL="0" indent="0" lvl="0">
              <a:lnSpc>
                <a:spcPts val="6987"/>
              </a:lnSpc>
            </a:pPr>
            <a:r>
              <a:rPr lang="en-US" b="true" sz="7058">
                <a:solidFill>
                  <a:srgbClr val="1F3A5F"/>
                </a:solidFill>
                <a:latin typeface="DM Sans Bold"/>
                <a:ea typeface="DM Sans Bold"/>
                <a:cs typeface="DM Sans Bold"/>
                <a:sym typeface="DM Sans Bold"/>
              </a:rPr>
              <a:t>Feature Preparation &amp; Preprocessing</a:t>
            </a:r>
          </a:p>
        </p:txBody>
      </p:sp>
      <p:sp>
        <p:nvSpPr>
          <p:cNvPr name="TextBox 6" id="6"/>
          <p:cNvSpPr txBox="true"/>
          <p:nvPr/>
        </p:nvSpPr>
        <p:spPr>
          <a:xfrm rot="0">
            <a:off x="1341599" y="6803616"/>
            <a:ext cx="716739" cy="412795"/>
          </a:xfrm>
          <a:prstGeom prst="rect">
            <a:avLst/>
          </a:prstGeom>
        </p:spPr>
        <p:txBody>
          <a:bodyPr anchor="t" rtlCol="false" tIns="0" lIns="0" bIns="0" rIns="0">
            <a:spAutoFit/>
          </a:bodyPr>
          <a:lstStyle/>
          <a:p>
            <a:pPr algn="ctr" marL="0" indent="0" lvl="0">
              <a:lnSpc>
                <a:spcPts val="3497"/>
              </a:lnSpc>
            </a:pPr>
            <a:r>
              <a:rPr lang="en-US" b="true" sz="2498">
                <a:solidFill>
                  <a:srgbClr val="F8FAFC"/>
                </a:solidFill>
                <a:latin typeface="Inter Bold"/>
                <a:ea typeface="Inter Bold"/>
                <a:cs typeface="Inter Bold"/>
                <a:sym typeface="Inter Bold"/>
              </a:rPr>
              <a:t>01</a:t>
            </a:r>
          </a:p>
        </p:txBody>
      </p:sp>
      <p:sp>
        <p:nvSpPr>
          <p:cNvPr name="TextBox 7" id="7"/>
          <p:cNvSpPr txBox="true"/>
          <p:nvPr/>
        </p:nvSpPr>
        <p:spPr>
          <a:xfrm rot="0">
            <a:off x="1341599" y="8845505"/>
            <a:ext cx="716739" cy="412795"/>
          </a:xfrm>
          <a:prstGeom prst="rect">
            <a:avLst/>
          </a:prstGeom>
        </p:spPr>
        <p:txBody>
          <a:bodyPr anchor="t" rtlCol="false" tIns="0" lIns="0" bIns="0" rIns="0">
            <a:spAutoFit/>
          </a:bodyPr>
          <a:lstStyle/>
          <a:p>
            <a:pPr algn="ctr" marL="0" indent="0" lvl="0">
              <a:lnSpc>
                <a:spcPts val="3497"/>
              </a:lnSpc>
            </a:pPr>
            <a:r>
              <a:rPr lang="en-US" b="true" sz="2498">
                <a:solidFill>
                  <a:srgbClr val="F8FAFC"/>
                </a:solidFill>
                <a:latin typeface="Inter Bold"/>
                <a:ea typeface="Inter Bold"/>
                <a:cs typeface="Inter Bold"/>
                <a:sym typeface="Inter Bold"/>
              </a:rPr>
              <a:t>02</a:t>
            </a:r>
          </a:p>
        </p:txBody>
      </p:sp>
      <p:sp>
        <p:nvSpPr>
          <p:cNvPr name="TextBox 8" id="8"/>
          <p:cNvSpPr txBox="true"/>
          <p:nvPr/>
        </p:nvSpPr>
        <p:spPr>
          <a:xfrm rot="0">
            <a:off x="7140708" y="6803616"/>
            <a:ext cx="716739" cy="412795"/>
          </a:xfrm>
          <a:prstGeom prst="rect">
            <a:avLst/>
          </a:prstGeom>
        </p:spPr>
        <p:txBody>
          <a:bodyPr anchor="t" rtlCol="false" tIns="0" lIns="0" bIns="0" rIns="0">
            <a:spAutoFit/>
          </a:bodyPr>
          <a:lstStyle/>
          <a:p>
            <a:pPr algn="ctr" marL="0" indent="0" lvl="0">
              <a:lnSpc>
                <a:spcPts val="3497"/>
              </a:lnSpc>
            </a:pPr>
            <a:r>
              <a:rPr lang="en-US" b="true" sz="2498">
                <a:solidFill>
                  <a:srgbClr val="F8FAFC"/>
                </a:solidFill>
                <a:latin typeface="Inter Bold"/>
                <a:ea typeface="Inter Bold"/>
                <a:cs typeface="Inter Bold"/>
                <a:sym typeface="Inter Bold"/>
              </a:rPr>
              <a:t>03</a:t>
            </a:r>
          </a:p>
        </p:txBody>
      </p:sp>
      <p:sp>
        <p:nvSpPr>
          <p:cNvPr name="TextBox 9" id="9"/>
          <p:cNvSpPr txBox="true"/>
          <p:nvPr/>
        </p:nvSpPr>
        <p:spPr>
          <a:xfrm rot="0">
            <a:off x="7140708" y="8485700"/>
            <a:ext cx="716739" cy="412795"/>
          </a:xfrm>
          <a:prstGeom prst="rect">
            <a:avLst/>
          </a:prstGeom>
        </p:spPr>
        <p:txBody>
          <a:bodyPr anchor="t" rtlCol="false" tIns="0" lIns="0" bIns="0" rIns="0">
            <a:spAutoFit/>
          </a:bodyPr>
          <a:lstStyle/>
          <a:p>
            <a:pPr algn="ctr" marL="0" indent="0" lvl="0">
              <a:lnSpc>
                <a:spcPts val="3497"/>
              </a:lnSpc>
            </a:pPr>
            <a:r>
              <a:rPr lang="en-US" b="true" sz="2498">
                <a:solidFill>
                  <a:srgbClr val="F8FAFC"/>
                </a:solidFill>
                <a:latin typeface="Inter Bold"/>
                <a:ea typeface="Inter Bold"/>
                <a:cs typeface="Inter Bold"/>
                <a:sym typeface="Inter Bold"/>
              </a:rPr>
              <a:t>04</a:t>
            </a:r>
          </a:p>
        </p:txBody>
      </p:sp>
      <p:sp>
        <p:nvSpPr>
          <p:cNvPr name="TextBox 10" id="10"/>
          <p:cNvSpPr txBox="true"/>
          <p:nvPr/>
        </p:nvSpPr>
        <p:spPr>
          <a:xfrm rot="0">
            <a:off x="662169" y="1325444"/>
            <a:ext cx="15016023" cy="9241790"/>
          </a:xfrm>
          <a:prstGeom prst="rect">
            <a:avLst/>
          </a:prstGeom>
        </p:spPr>
        <p:txBody>
          <a:bodyPr anchor="t" rtlCol="false" tIns="0" lIns="0" bIns="0" rIns="0">
            <a:spAutoFit/>
          </a:bodyPr>
          <a:lstStyle/>
          <a:p>
            <a:pPr algn="l">
              <a:lnSpc>
                <a:spcPts val="4059"/>
              </a:lnSpc>
            </a:pPr>
            <a:r>
              <a:rPr lang="en-US" sz="2899" b="true">
                <a:solidFill>
                  <a:srgbClr val="1F3A5F"/>
                </a:solidFill>
                <a:latin typeface="Canva Sans Bold"/>
                <a:ea typeface="Canva Sans Bold"/>
                <a:cs typeface="Canva Sans Bold"/>
                <a:sym typeface="Canva Sans Bold"/>
              </a:rPr>
              <a:t>Target &amp; Features</a:t>
            </a:r>
          </a:p>
          <a:p>
            <a:pPr algn="l" marL="626109" indent="-313054" lvl="1">
              <a:lnSpc>
                <a:spcPts val="4059"/>
              </a:lnSpc>
              <a:buFont typeface="Arial"/>
              <a:buChar char="•"/>
            </a:pPr>
            <a:r>
              <a:rPr lang="en-US" sz="2899">
                <a:solidFill>
                  <a:srgbClr val="0D0D0E"/>
                </a:solidFill>
                <a:latin typeface="Canva Sans"/>
                <a:ea typeface="Canva Sans"/>
                <a:cs typeface="Canva Sans"/>
                <a:sym typeface="Canva Sans"/>
              </a:rPr>
              <a:t>Target: cnt — total hourly bike rentals.</a:t>
            </a:r>
          </a:p>
          <a:p>
            <a:pPr algn="l" marL="626109" indent="-313054" lvl="1">
              <a:lnSpc>
                <a:spcPts val="4059"/>
              </a:lnSpc>
              <a:buFont typeface="Arial"/>
              <a:buChar char="•"/>
            </a:pPr>
            <a:r>
              <a:rPr lang="en-US" sz="2899">
                <a:solidFill>
                  <a:srgbClr val="0D0D0E"/>
                </a:solidFill>
                <a:latin typeface="Canva Sans"/>
                <a:ea typeface="Canva Sans"/>
                <a:cs typeface="Canva Sans"/>
                <a:sym typeface="Canva Sans"/>
              </a:rPr>
              <a:t>Prepared numerical and categorical features separately.</a:t>
            </a:r>
          </a:p>
          <a:p>
            <a:pPr algn="l" marL="626109" indent="-313054" lvl="1">
              <a:lnSpc>
                <a:spcPts val="4059"/>
              </a:lnSpc>
              <a:buFont typeface="Arial"/>
              <a:buChar char="•"/>
            </a:pPr>
            <a:r>
              <a:rPr lang="en-US" sz="2899">
                <a:solidFill>
                  <a:srgbClr val="0D0D0E"/>
                </a:solidFill>
                <a:latin typeface="Canva Sans"/>
                <a:ea typeface="Canva Sans"/>
                <a:cs typeface="Canva Sans"/>
                <a:sym typeface="Canva Sans"/>
              </a:rPr>
              <a:t>casual and registered excluded (they add up to cnt) to prevent target leakage</a:t>
            </a:r>
            <a:r>
              <a:rPr lang="en-US" sz="2899">
                <a:solidFill>
                  <a:srgbClr val="0D0D0E"/>
                </a:solidFill>
                <a:latin typeface="Canva Sans"/>
                <a:ea typeface="Canva Sans"/>
                <a:cs typeface="Canva Sans"/>
                <a:sym typeface="Canva Sans"/>
              </a:rPr>
              <a:t>.</a:t>
            </a:r>
          </a:p>
          <a:p>
            <a:pPr algn="l" marL="626109" indent="-313054" lvl="1">
              <a:lnSpc>
                <a:spcPts val="4059"/>
              </a:lnSpc>
              <a:buFont typeface="Arial"/>
              <a:buChar char="•"/>
            </a:pPr>
            <a:r>
              <a:rPr lang="en-US" sz="2899">
                <a:solidFill>
                  <a:srgbClr val="0D0D0E"/>
                </a:solidFill>
                <a:latin typeface="Canva Sans"/>
                <a:ea typeface="Canva Sans"/>
                <a:cs typeface="Canva Sans"/>
                <a:sym typeface="Canva Sans"/>
              </a:rPr>
              <a:t>Numerical: temp, atemp, hum, windspeed.</a:t>
            </a:r>
          </a:p>
          <a:p>
            <a:pPr algn="l" marL="626109" indent="-313054" lvl="1">
              <a:lnSpc>
                <a:spcPts val="4059"/>
              </a:lnSpc>
              <a:buFont typeface="Arial"/>
              <a:buChar char="•"/>
            </a:pPr>
            <a:r>
              <a:rPr lang="en-US" sz="2899">
                <a:solidFill>
                  <a:srgbClr val="0D0D0E"/>
                </a:solidFill>
                <a:latin typeface="Canva Sans"/>
                <a:ea typeface="Canva Sans"/>
                <a:cs typeface="Canva Sans"/>
                <a:sym typeface="Canva Sans"/>
              </a:rPr>
              <a:t>Categorical: season, yr, mnth, hr, holiday, weekday, workingday, weathersit.</a:t>
            </a:r>
          </a:p>
          <a:p>
            <a:pPr algn="l">
              <a:lnSpc>
                <a:spcPts val="4059"/>
              </a:lnSpc>
            </a:pPr>
          </a:p>
          <a:p>
            <a:pPr algn="l">
              <a:lnSpc>
                <a:spcPts val="4059"/>
              </a:lnSpc>
            </a:pPr>
            <a:r>
              <a:rPr lang="en-US" sz="2899" b="true">
                <a:solidFill>
                  <a:srgbClr val="1F3A5F"/>
                </a:solidFill>
                <a:latin typeface="Canva Sans Bold"/>
                <a:ea typeface="Canva Sans Bold"/>
                <a:cs typeface="Canva Sans Bold"/>
                <a:sym typeface="Canva Sans Bold"/>
              </a:rPr>
              <a:t>Preprocessing pipeline</a:t>
            </a:r>
          </a:p>
          <a:p>
            <a:pPr algn="l" marL="626109" indent="-313054" lvl="1">
              <a:lnSpc>
                <a:spcPts val="4059"/>
              </a:lnSpc>
              <a:buFont typeface="Arial"/>
              <a:buChar char="•"/>
            </a:pPr>
            <a:r>
              <a:rPr lang="en-US" sz="2899">
                <a:solidFill>
                  <a:srgbClr val="0D0D0E"/>
                </a:solidFill>
                <a:latin typeface="Canva Sans"/>
                <a:ea typeface="Canva Sans"/>
                <a:cs typeface="Canva Sans"/>
                <a:sym typeface="Canva Sans"/>
              </a:rPr>
              <a:t>Numerical → Median Imputation + StandardScaler.</a:t>
            </a:r>
          </a:p>
          <a:p>
            <a:pPr algn="l" marL="626109" indent="-313054" lvl="1">
              <a:lnSpc>
                <a:spcPts val="4059"/>
              </a:lnSpc>
              <a:buFont typeface="Arial"/>
              <a:buChar char="•"/>
            </a:pPr>
            <a:r>
              <a:rPr lang="en-US" sz="2899">
                <a:solidFill>
                  <a:srgbClr val="0D0D0E"/>
                </a:solidFill>
                <a:latin typeface="Canva Sans"/>
                <a:ea typeface="Canva Sans"/>
                <a:cs typeface="Canva Sans"/>
                <a:sym typeface="Canva Sans"/>
              </a:rPr>
              <a:t>Categorical → Most-Frequent Imputation + One-Hot Encoding.</a:t>
            </a:r>
          </a:p>
          <a:p>
            <a:pPr algn="l" marL="626109" indent="-313054" lvl="1">
              <a:lnSpc>
                <a:spcPts val="4059"/>
              </a:lnSpc>
              <a:buFont typeface="Arial"/>
              <a:buChar char="•"/>
            </a:pPr>
            <a:r>
              <a:rPr lang="en-US" sz="2899">
                <a:solidFill>
                  <a:srgbClr val="0D0D0E"/>
                </a:solidFill>
                <a:latin typeface="Canva Sans"/>
                <a:ea typeface="Canva Sans"/>
                <a:cs typeface="Canva Sans"/>
                <a:sym typeface="Canva Sans"/>
              </a:rPr>
              <a:t>Preprocessing fitted on training data only to prevent leakage.</a:t>
            </a:r>
          </a:p>
          <a:p>
            <a:pPr algn="l">
              <a:lnSpc>
                <a:spcPts val="4059"/>
              </a:lnSpc>
            </a:pPr>
          </a:p>
          <a:p>
            <a:pPr algn="l">
              <a:lnSpc>
                <a:spcPts val="4059"/>
              </a:lnSpc>
            </a:pPr>
            <a:r>
              <a:rPr lang="en-US" sz="2899" b="true">
                <a:solidFill>
                  <a:srgbClr val="1F3A5F"/>
                </a:solidFill>
                <a:latin typeface="Canva Sans Bold"/>
                <a:ea typeface="Canva Sans Bold"/>
                <a:cs typeface="Canva Sans Bold"/>
                <a:sym typeface="Canva Sans Bold"/>
              </a:rPr>
              <a:t>Train–Test Preparation</a:t>
            </a:r>
          </a:p>
          <a:p>
            <a:pPr algn="l" marL="626109" indent="-313054" lvl="1">
              <a:lnSpc>
                <a:spcPts val="4059"/>
              </a:lnSpc>
              <a:buFont typeface="Arial"/>
              <a:buChar char="•"/>
            </a:pPr>
            <a:r>
              <a:rPr lang="en-US" sz="2899">
                <a:solidFill>
                  <a:srgbClr val="0D0D0E"/>
                </a:solidFill>
                <a:latin typeface="Canva Sans"/>
                <a:ea typeface="Canva Sans"/>
                <a:cs typeface="Canva Sans"/>
                <a:sym typeface="Canva Sans"/>
              </a:rPr>
              <a:t>80:20 chronological split.</a:t>
            </a:r>
          </a:p>
          <a:p>
            <a:pPr algn="l" marL="626109" indent="-313054" lvl="1">
              <a:lnSpc>
                <a:spcPts val="4059"/>
              </a:lnSpc>
              <a:buFont typeface="Arial"/>
              <a:buChar char="•"/>
            </a:pPr>
            <a:r>
              <a:rPr lang="en-US" sz="2899">
                <a:solidFill>
                  <a:srgbClr val="0D0D0E"/>
                </a:solidFill>
                <a:latin typeface="Canva Sans"/>
                <a:ea typeface="Canva Sans"/>
                <a:cs typeface="Canva Sans"/>
                <a:sym typeface="Canva Sans"/>
              </a:rPr>
              <a:t>Training: 13,903 | Testing: 3,476.</a:t>
            </a:r>
          </a:p>
          <a:p>
            <a:pPr algn="l" marL="626109" indent="-313054" lvl="1">
              <a:lnSpc>
                <a:spcPts val="4059"/>
              </a:lnSpc>
              <a:buFont typeface="Arial"/>
              <a:buChar char="•"/>
            </a:pPr>
            <a:r>
              <a:rPr lang="en-US" sz="2899">
                <a:solidFill>
                  <a:srgbClr val="0D0D0E"/>
                </a:solidFill>
                <a:latin typeface="Canva Sans"/>
                <a:ea typeface="Canva Sans"/>
                <a:cs typeface="Canva Sans"/>
                <a:sym typeface="Canva Sans"/>
              </a:rPr>
              <a:t>After encoding: 61 processed features.</a:t>
            </a:r>
          </a:p>
          <a:p>
            <a:pPr algn="l" marL="626109" indent="-313054" lvl="1">
              <a:lnSpc>
                <a:spcPts val="4059"/>
              </a:lnSpc>
              <a:buFont typeface="Arial"/>
              <a:buChar char="•"/>
            </a:pPr>
            <a:r>
              <a:rPr lang="en-US" sz="2899">
                <a:solidFill>
                  <a:srgbClr val="0D0D0E"/>
                </a:solidFill>
                <a:latin typeface="Canva Sans"/>
                <a:ea typeface="Canva Sans"/>
                <a:cs typeface="Canva Sans"/>
                <a:sym typeface="Canva Sans"/>
              </a:rPr>
              <a:t>Prepared data saved for ML model development.</a:t>
            </a:r>
          </a:p>
          <a:p>
            <a:pPr algn="l">
              <a:lnSpc>
                <a:spcPts val="4059"/>
              </a:lnSpc>
              <a:spcBef>
                <a:spcPct val="0"/>
              </a:spcBef>
            </a:pPr>
          </a:p>
        </p:txBody>
      </p:sp>
    </p:spTree>
  </p:cSld>
  <p:clrMapOvr>
    <a:masterClrMapping/>
  </p:clrMapOvr>
  <p:transition spd="slow">
    <p:push dir="l"/>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4958" y="169955"/>
            <a:ext cx="17998083" cy="9947090"/>
            <a:chOff x="0" y="0"/>
            <a:chExt cx="4740236" cy="2619810"/>
          </a:xfrm>
        </p:grpSpPr>
        <p:sp>
          <p:nvSpPr>
            <p:cNvPr name="Freeform 3" id="3"/>
            <p:cNvSpPr/>
            <p:nvPr/>
          </p:nvSpPr>
          <p:spPr>
            <a:xfrm flipH="false" flipV="false" rot="0">
              <a:off x="0" y="0"/>
              <a:ext cx="4740236" cy="2619810"/>
            </a:xfrm>
            <a:custGeom>
              <a:avLst/>
              <a:gdLst/>
              <a:ahLst/>
              <a:cxnLst/>
              <a:rect r="r" b="b" t="t" l="l"/>
              <a:pathLst>
                <a:path h="2619810" w="4740236">
                  <a:moveTo>
                    <a:pt x="21938" y="0"/>
                  </a:moveTo>
                  <a:lnTo>
                    <a:pt x="4718298" y="0"/>
                  </a:lnTo>
                  <a:cubicBezTo>
                    <a:pt x="4724116" y="0"/>
                    <a:pt x="4729696" y="2311"/>
                    <a:pt x="4733810" y="6425"/>
                  </a:cubicBezTo>
                  <a:cubicBezTo>
                    <a:pt x="4737925" y="10540"/>
                    <a:pt x="4740236" y="16120"/>
                    <a:pt x="4740236" y="21938"/>
                  </a:cubicBezTo>
                  <a:lnTo>
                    <a:pt x="4740236" y="2597872"/>
                  </a:lnTo>
                  <a:cubicBezTo>
                    <a:pt x="4740236" y="2603690"/>
                    <a:pt x="4737925" y="2609270"/>
                    <a:pt x="4733810" y="2613384"/>
                  </a:cubicBezTo>
                  <a:cubicBezTo>
                    <a:pt x="4729696" y="2617498"/>
                    <a:pt x="4724116" y="2619810"/>
                    <a:pt x="4718298" y="2619810"/>
                  </a:cubicBezTo>
                  <a:lnTo>
                    <a:pt x="21938" y="2619810"/>
                  </a:lnTo>
                  <a:cubicBezTo>
                    <a:pt x="16120" y="2619810"/>
                    <a:pt x="10540" y="2617498"/>
                    <a:pt x="6425" y="2613384"/>
                  </a:cubicBezTo>
                  <a:cubicBezTo>
                    <a:pt x="2311" y="2609270"/>
                    <a:pt x="0" y="2603690"/>
                    <a:pt x="0" y="2597872"/>
                  </a:cubicBezTo>
                  <a:lnTo>
                    <a:pt x="0" y="21938"/>
                  </a:lnTo>
                  <a:cubicBezTo>
                    <a:pt x="0" y="16120"/>
                    <a:pt x="2311" y="10540"/>
                    <a:pt x="6425" y="6425"/>
                  </a:cubicBezTo>
                  <a:cubicBezTo>
                    <a:pt x="10540" y="2311"/>
                    <a:pt x="16120" y="0"/>
                    <a:pt x="21938" y="0"/>
                  </a:cubicBezTo>
                  <a:close/>
                </a:path>
              </a:pathLst>
            </a:custGeom>
            <a:solidFill>
              <a:srgbClr val="EEF4FA"/>
            </a:solidFill>
          </p:spPr>
        </p:sp>
        <p:sp>
          <p:nvSpPr>
            <p:cNvPr name="TextBox 4" id="4"/>
            <p:cNvSpPr txBox="true"/>
            <p:nvPr/>
          </p:nvSpPr>
          <p:spPr>
            <a:xfrm>
              <a:off x="0" y="-38100"/>
              <a:ext cx="4740236" cy="265791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352154" y="4345940"/>
            <a:ext cx="17583691" cy="5295584"/>
          </a:xfrm>
          <a:custGeom>
            <a:avLst/>
            <a:gdLst/>
            <a:ahLst/>
            <a:cxnLst/>
            <a:rect r="r" b="b" t="t" l="l"/>
            <a:pathLst>
              <a:path h="5295584" w="17583691">
                <a:moveTo>
                  <a:pt x="0" y="0"/>
                </a:moveTo>
                <a:lnTo>
                  <a:pt x="17583692" y="0"/>
                </a:lnTo>
                <a:lnTo>
                  <a:pt x="17583692" y="5295584"/>
                </a:lnTo>
                <a:lnTo>
                  <a:pt x="0" y="5295584"/>
                </a:lnTo>
                <a:lnTo>
                  <a:pt x="0" y="0"/>
                </a:lnTo>
                <a:close/>
              </a:path>
            </a:pathLst>
          </a:custGeom>
          <a:blipFill>
            <a:blip r:embed="rId2"/>
            <a:stretch>
              <a:fillRect l="0" t="0" r="-269" b="0"/>
            </a:stretch>
          </a:blipFill>
        </p:spPr>
      </p:sp>
      <p:sp>
        <p:nvSpPr>
          <p:cNvPr name="TextBox 6" id="6"/>
          <p:cNvSpPr txBox="true"/>
          <p:nvPr/>
        </p:nvSpPr>
        <p:spPr>
          <a:xfrm rot="0">
            <a:off x="737555" y="2154047"/>
            <a:ext cx="17699609" cy="2191893"/>
          </a:xfrm>
          <a:prstGeom prst="rect">
            <a:avLst/>
          </a:prstGeom>
        </p:spPr>
        <p:txBody>
          <a:bodyPr anchor="t" rtlCol="false" tIns="0" lIns="0" bIns="0" rIns="0">
            <a:spAutoFit/>
          </a:bodyPr>
          <a:lstStyle/>
          <a:p>
            <a:pPr algn="l">
              <a:lnSpc>
                <a:spcPts val="2870"/>
              </a:lnSpc>
            </a:pPr>
          </a:p>
          <a:p>
            <a:pPr algn="l" marL="626107" indent="-313054" lvl="1">
              <a:lnSpc>
                <a:spcPts val="2870"/>
              </a:lnSpc>
              <a:buFont typeface="Arial"/>
              <a:buChar char="•"/>
            </a:pPr>
            <a:r>
              <a:rPr lang="en-US" sz="2899">
                <a:solidFill>
                  <a:srgbClr val="0F172A"/>
                </a:solidFill>
                <a:latin typeface="DM Sans"/>
                <a:ea typeface="DM Sans"/>
                <a:cs typeface="DM Sans"/>
                <a:sym typeface="DM Sans"/>
              </a:rPr>
              <a:t>Hourly demand follows a different pattern on working and non-working days.</a:t>
            </a:r>
          </a:p>
          <a:p>
            <a:pPr algn="l" marL="626107" indent="-313054" lvl="1">
              <a:lnSpc>
                <a:spcPts val="2870"/>
              </a:lnSpc>
              <a:buFont typeface="Arial"/>
              <a:buChar char="•"/>
            </a:pPr>
            <a:r>
              <a:rPr lang="en-US" sz="2899">
                <a:solidFill>
                  <a:srgbClr val="0F172A"/>
                </a:solidFill>
                <a:latin typeface="DM Sans"/>
                <a:ea typeface="DM Sans"/>
                <a:cs typeface="DM Sans"/>
                <a:sym typeface="DM Sans"/>
              </a:rPr>
              <a:t>Demand peaks around 17:00 and is lowest around 04:00.</a:t>
            </a:r>
          </a:p>
          <a:p>
            <a:pPr algn="l" marL="626107" indent="-313054" lvl="1">
              <a:lnSpc>
                <a:spcPts val="2870"/>
              </a:lnSpc>
              <a:buFont typeface="Arial"/>
              <a:buChar char="•"/>
            </a:pPr>
            <a:r>
              <a:rPr lang="en-US" sz="2899">
                <a:solidFill>
                  <a:srgbClr val="0F172A"/>
                </a:solidFill>
                <a:latin typeface="DM Sans"/>
                <a:ea typeface="DM Sans"/>
                <a:cs typeface="DM Sans"/>
                <a:sym typeface="DM Sans"/>
              </a:rPr>
              <a:t>The difference in average demand by day type is statistically significant (t = 4.10, p &lt; 0.001).</a:t>
            </a:r>
          </a:p>
          <a:p>
            <a:pPr algn="l" marL="626107" indent="-313054" lvl="1">
              <a:lnSpc>
                <a:spcPts val="2870"/>
              </a:lnSpc>
              <a:buFont typeface="Arial"/>
              <a:buChar char="•"/>
            </a:pPr>
            <a:r>
              <a:rPr lang="en-US" sz="2899">
                <a:solidFill>
                  <a:srgbClr val="0F172A"/>
                </a:solidFill>
                <a:latin typeface="DM Sans"/>
                <a:ea typeface="DM Sans"/>
                <a:cs typeface="DM Sans"/>
                <a:sym typeface="DM Sans"/>
              </a:rPr>
              <a:t>Implication: plan fleet availability by both hour and day type.</a:t>
            </a:r>
          </a:p>
          <a:p>
            <a:pPr algn="l" marL="0" indent="0" lvl="0">
              <a:lnSpc>
                <a:spcPts val="2870"/>
              </a:lnSpc>
            </a:pPr>
          </a:p>
        </p:txBody>
      </p:sp>
      <p:sp>
        <p:nvSpPr>
          <p:cNvPr name="TextBox 7" id="7"/>
          <p:cNvSpPr txBox="true"/>
          <p:nvPr/>
        </p:nvSpPr>
        <p:spPr>
          <a:xfrm rot="0">
            <a:off x="4208382" y="465594"/>
            <a:ext cx="8880576" cy="961390"/>
          </a:xfrm>
          <a:prstGeom prst="rect">
            <a:avLst/>
          </a:prstGeom>
        </p:spPr>
        <p:txBody>
          <a:bodyPr anchor="t" rtlCol="false" tIns="0" lIns="0" bIns="0" rIns="0">
            <a:spAutoFit/>
          </a:bodyPr>
          <a:lstStyle/>
          <a:p>
            <a:pPr algn="l">
              <a:lnSpc>
                <a:spcPts val="7279"/>
              </a:lnSpc>
            </a:pPr>
            <a:r>
              <a:rPr lang="en-US" sz="6999" b="true">
                <a:solidFill>
                  <a:srgbClr val="1F3A5F"/>
                </a:solidFill>
                <a:latin typeface="Montserrat Bold"/>
                <a:ea typeface="Montserrat Bold"/>
                <a:cs typeface="Montserrat Bold"/>
                <a:sym typeface="Montserrat Bold"/>
              </a:rPr>
              <a:t>Top 3 EDA insights</a:t>
            </a:r>
          </a:p>
        </p:txBody>
      </p:sp>
      <p:sp>
        <p:nvSpPr>
          <p:cNvPr name="TextBox 8" id="8"/>
          <p:cNvSpPr txBox="true"/>
          <p:nvPr/>
        </p:nvSpPr>
        <p:spPr>
          <a:xfrm rot="0">
            <a:off x="465743" y="1903476"/>
            <a:ext cx="8678257" cy="424942"/>
          </a:xfrm>
          <a:prstGeom prst="rect">
            <a:avLst/>
          </a:prstGeom>
        </p:spPr>
        <p:txBody>
          <a:bodyPr anchor="t" rtlCol="false" tIns="0" lIns="0" bIns="0" rIns="0">
            <a:spAutoFit/>
          </a:bodyPr>
          <a:lstStyle/>
          <a:p>
            <a:pPr algn="l">
              <a:lnSpc>
                <a:spcPts val="3223"/>
              </a:lnSpc>
            </a:pPr>
            <a:r>
              <a:rPr lang="en-US" sz="3099" b="true">
                <a:solidFill>
                  <a:srgbClr val="1F3A5F"/>
                </a:solidFill>
                <a:latin typeface="DM Sans Bold"/>
                <a:ea typeface="DM Sans Bold"/>
                <a:cs typeface="DM Sans Bold"/>
                <a:sym typeface="DM Sans Bold"/>
              </a:rPr>
              <a:t> 1. Hour and working-day status interact</a:t>
            </a:r>
          </a:p>
        </p:txBody>
      </p:sp>
    </p:spTree>
  </p:cSld>
  <p:clrMapOvr>
    <a:masterClrMapping/>
  </p:clrMapOvr>
  <p:transition spd="slow">
    <p:push dir="l"/>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4958" y="169955"/>
            <a:ext cx="17998083" cy="9947090"/>
            <a:chOff x="0" y="0"/>
            <a:chExt cx="4740236" cy="2619810"/>
          </a:xfrm>
        </p:grpSpPr>
        <p:sp>
          <p:nvSpPr>
            <p:cNvPr name="Freeform 3" id="3"/>
            <p:cNvSpPr/>
            <p:nvPr/>
          </p:nvSpPr>
          <p:spPr>
            <a:xfrm flipH="false" flipV="false" rot="0">
              <a:off x="0" y="0"/>
              <a:ext cx="4740236" cy="2619810"/>
            </a:xfrm>
            <a:custGeom>
              <a:avLst/>
              <a:gdLst/>
              <a:ahLst/>
              <a:cxnLst/>
              <a:rect r="r" b="b" t="t" l="l"/>
              <a:pathLst>
                <a:path h="2619810" w="4740236">
                  <a:moveTo>
                    <a:pt x="21938" y="0"/>
                  </a:moveTo>
                  <a:lnTo>
                    <a:pt x="4718298" y="0"/>
                  </a:lnTo>
                  <a:cubicBezTo>
                    <a:pt x="4724116" y="0"/>
                    <a:pt x="4729696" y="2311"/>
                    <a:pt x="4733810" y="6425"/>
                  </a:cubicBezTo>
                  <a:cubicBezTo>
                    <a:pt x="4737925" y="10540"/>
                    <a:pt x="4740236" y="16120"/>
                    <a:pt x="4740236" y="21938"/>
                  </a:cubicBezTo>
                  <a:lnTo>
                    <a:pt x="4740236" y="2597872"/>
                  </a:lnTo>
                  <a:cubicBezTo>
                    <a:pt x="4740236" y="2603690"/>
                    <a:pt x="4737925" y="2609270"/>
                    <a:pt x="4733810" y="2613384"/>
                  </a:cubicBezTo>
                  <a:cubicBezTo>
                    <a:pt x="4729696" y="2617498"/>
                    <a:pt x="4724116" y="2619810"/>
                    <a:pt x="4718298" y="2619810"/>
                  </a:cubicBezTo>
                  <a:lnTo>
                    <a:pt x="21938" y="2619810"/>
                  </a:lnTo>
                  <a:cubicBezTo>
                    <a:pt x="16120" y="2619810"/>
                    <a:pt x="10540" y="2617498"/>
                    <a:pt x="6425" y="2613384"/>
                  </a:cubicBezTo>
                  <a:cubicBezTo>
                    <a:pt x="2311" y="2609270"/>
                    <a:pt x="0" y="2603690"/>
                    <a:pt x="0" y="2597872"/>
                  </a:cubicBezTo>
                  <a:lnTo>
                    <a:pt x="0" y="21938"/>
                  </a:lnTo>
                  <a:cubicBezTo>
                    <a:pt x="0" y="16120"/>
                    <a:pt x="2311" y="10540"/>
                    <a:pt x="6425" y="6425"/>
                  </a:cubicBezTo>
                  <a:cubicBezTo>
                    <a:pt x="10540" y="2311"/>
                    <a:pt x="16120" y="0"/>
                    <a:pt x="21938" y="0"/>
                  </a:cubicBezTo>
                  <a:close/>
                </a:path>
              </a:pathLst>
            </a:custGeom>
            <a:solidFill>
              <a:srgbClr val="EEF4FA"/>
            </a:solidFill>
          </p:spPr>
        </p:sp>
        <p:sp>
          <p:nvSpPr>
            <p:cNvPr name="TextBox 4" id="4"/>
            <p:cNvSpPr txBox="true"/>
            <p:nvPr/>
          </p:nvSpPr>
          <p:spPr>
            <a:xfrm>
              <a:off x="0" y="-38100"/>
              <a:ext cx="4740236" cy="265791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1253501" y="4323969"/>
            <a:ext cx="15780998" cy="5682199"/>
          </a:xfrm>
          <a:custGeom>
            <a:avLst/>
            <a:gdLst/>
            <a:ahLst/>
            <a:cxnLst/>
            <a:rect r="r" b="b" t="t" l="l"/>
            <a:pathLst>
              <a:path h="5682199" w="15780998">
                <a:moveTo>
                  <a:pt x="0" y="0"/>
                </a:moveTo>
                <a:lnTo>
                  <a:pt x="15780998" y="0"/>
                </a:lnTo>
                <a:lnTo>
                  <a:pt x="15780998" y="5682199"/>
                </a:lnTo>
                <a:lnTo>
                  <a:pt x="0" y="5682199"/>
                </a:lnTo>
                <a:lnTo>
                  <a:pt x="0" y="0"/>
                </a:lnTo>
                <a:close/>
              </a:path>
            </a:pathLst>
          </a:custGeom>
          <a:blipFill>
            <a:blip r:embed="rId2"/>
            <a:stretch>
              <a:fillRect l="0" t="-1466" r="0" b="-1466"/>
            </a:stretch>
          </a:blipFill>
        </p:spPr>
      </p:sp>
      <p:sp>
        <p:nvSpPr>
          <p:cNvPr name="TextBox 6" id="6"/>
          <p:cNvSpPr txBox="true"/>
          <p:nvPr/>
        </p:nvSpPr>
        <p:spPr>
          <a:xfrm rot="0">
            <a:off x="1028700" y="1922526"/>
            <a:ext cx="17699609" cy="2191893"/>
          </a:xfrm>
          <a:prstGeom prst="rect">
            <a:avLst/>
          </a:prstGeom>
        </p:spPr>
        <p:txBody>
          <a:bodyPr anchor="t" rtlCol="false" tIns="0" lIns="0" bIns="0" rIns="0">
            <a:spAutoFit/>
          </a:bodyPr>
          <a:lstStyle/>
          <a:p>
            <a:pPr algn="l">
              <a:lnSpc>
                <a:spcPts val="2870"/>
              </a:lnSpc>
            </a:pPr>
          </a:p>
          <a:p>
            <a:pPr algn="l" marL="626107" indent="-313054" lvl="1">
              <a:lnSpc>
                <a:spcPts val="2870"/>
              </a:lnSpc>
              <a:buFont typeface="Arial"/>
              <a:buChar char="•"/>
            </a:pPr>
            <a:r>
              <a:rPr lang="en-US" sz="2899">
                <a:solidFill>
                  <a:srgbClr val="0F172A"/>
                </a:solidFill>
                <a:latin typeface="DM Sans"/>
                <a:ea typeface="DM Sans"/>
                <a:cs typeface="DM Sans"/>
                <a:sym typeface="DM Sans"/>
              </a:rPr>
              <a:t>Registered riders peak at commuting hours on working days.</a:t>
            </a:r>
          </a:p>
          <a:p>
            <a:pPr algn="l" marL="626107" indent="-313054" lvl="1">
              <a:lnSpc>
                <a:spcPts val="2870"/>
              </a:lnSpc>
              <a:buFont typeface="Arial"/>
              <a:buChar char="•"/>
            </a:pPr>
            <a:r>
              <a:rPr lang="en-US" sz="2899">
                <a:solidFill>
                  <a:srgbClr val="0F172A"/>
                </a:solidFill>
                <a:latin typeface="DM Sans"/>
                <a:ea typeface="DM Sans"/>
                <a:cs typeface="DM Sans"/>
                <a:sym typeface="DM Sans"/>
              </a:rPr>
              <a:t>Casual riders peak midday to afternoon (14:00 on non-working days).</a:t>
            </a:r>
          </a:p>
          <a:p>
            <a:pPr algn="l" marL="626107" indent="-313054" lvl="1">
              <a:lnSpc>
                <a:spcPts val="2870"/>
              </a:lnSpc>
              <a:buFont typeface="Arial"/>
              <a:buChar char="•"/>
            </a:pPr>
            <a:r>
              <a:rPr lang="en-US" sz="2899">
                <a:solidFill>
                  <a:srgbClr val="0F172A"/>
                </a:solidFill>
                <a:latin typeface="DM Sans"/>
                <a:ea typeface="DM Sans"/>
                <a:cs typeface="DM Sans"/>
                <a:sym typeface="DM Sans"/>
              </a:rPr>
              <a:t>Casual riders make up 31.7% of rentals on non-working days vs 13.2% on working days.</a:t>
            </a:r>
          </a:p>
          <a:p>
            <a:pPr algn="l" marL="626107" indent="-313054" lvl="1">
              <a:lnSpc>
                <a:spcPts val="2870"/>
              </a:lnSpc>
              <a:buFont typeface="Arial"/>
              <a:buChar char="•"/>
            </a:pPr>
            <a:r>
              <a:rPr lang="en-US" sz="2899">
                <a:solidFill>
                  <a:srgbClr val="0F172A"/>
                </a:solidFill>
                <a:latin typeface="DM Sans"/>
                <a:ea typeface="DM Sans"/>
                <a:cs typeface="DM Sans"/>
                <a:sym typeface="DM Sans"/>
              </a:rPr>
              <a:t>Implication: commuter areas need bikes at working-day peaks, leisure areas on non-working afternoons.</a:t>
            </a:r>
          </a:p>
        </p:txBody>
      </p:sp>
      <p:sp>
        <p:nvSpPr>
          <p:cNvPr name="TextBox 7" id="7"/>
          <p:cNvSpPr txBox="true"/>
          <p:nvPr/>
        </p:nvSpPr>
        <p:spPr>
          <a:xfrm rot="0">
            <a:off x="4208382" y="465594"/>
            <a:ext cx="8880576" cy="961390"/>
          </a:xfrm>
          <a:prstGeom prst="rect">
            <a:avLst/>
          </a:prstGeom>
        </p:spPr>
        <p:txBody>
          <a:bodyPr anchor="t" rtlCol="false" tIns="0" lIns="0" bIns="0" rIns="0">
            <a:spAutoFit/>
          </a:bodyPr>
          <a:lstStyle/>
          <a:p>
            <a:pPr algn="l">
              <a:lnSpc>
                <a:spcPts val="7279"/>
              </a:lnSpc>
            </a:pPr>
            <a:r>
              <a:rPr lang="en-US" sz="6999" b="true">
                <a:solidFill>
                  <a:srgbClr val="1F3A5F"/>
                </a:solidFill>
                <a:latin typeface="Montserrat Bold"/>
                <a:ea typeface="Montserrat Bold"/>
                <a:cs typeface="Montserrat Bold"/>
                <a:sym typeface="Montserrat Bold"/>
              </a:rPr>
              <a:t>Top 3 EDA insights</a:t>
            </a:r>
          </a:p>
        </p:txBody>
      </p:sp>
      <p:sp>
        <p:nvSpPr>
          <p:cNvPr name="TextBox 8" id="8"/>
          <p:cNvSpPr txBox="true"/>
          <p:nvPr/>
        </p:nvSpPr>
        <p:spPr>
          <a:xfrm rot="0">
            <a:off x="465743" y="1671955"/>
            <a:ext cx="12839068" cy="424942"/>
          </a:xfrm>
          <a:prstGeom prst="rect">
            <a:avLst/>
          </a:prstGeom>
        </p:spPr>
        <p:txBody>
          <a:bodyPr anchor="t" rtlCol="false" tIns="0" lIns="0" bIns="0" rIns="0">
            <a:spAutoFit/>
          </a:bodyPr>
          <a:lstStyle/>
          <a:p>
            <a:pPr algn="l">
              <a:lnSpc>
                <a:spcPts val="3223"/>
              </a:lnSpc>
            </a:pPr>
            <a:r>
              <a:rPr lang="en-US" sz="3099" b="true">
                <a:solidFill>
                  <a:srgbClr val="1F3A5F"/>
                </a:solidFill>
                <a:latin typeface="DM Sans Bold"/>
                <a:ea typeface="DM Sans Bold"/>
                <a:cs typeface="DM Sans Bold"/>
                <a:sym typeface="DM Sans Bold"/>
              </a:rPr>
              <a:t>Insight 2: Registered and casual riders use the system differently</a:t>
            </a:r>
          </a:p>
        </p:txBody>
      </p:sp>
    </p:spTree>
  </p:cSld>
  <p:clrMapOvr>
    <a:masterClrMapping/>
  </p:clrMapOvr>
  <p:transition spd="slow">
    <p:push dir="l"/>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4958" y="169955"/>
            <a:ext cx="17998083" cy="9947090"/>
            <a:chOff x="0" y="0"/>
            <a:chExt cx="4740236" cy="2619810"/>
          </a:xfrm>
        </p:grpSpPr>
        <p:sp>
          <p:nvSpPr>
            <p:cNvPr name="Freeform 3" id="3"/>
            <p:cNvSpPr/>
            <p:nvPr/>
          </p:nvSpPr>
          <p:spPr>
            <a:xfrm flipH="false" flipV="false" rot="0">
              <a:off x="0" y="0"/>
              <a:ext cx="4740236" cy="2619810"/>
            </a:xfrm>
            <a:custGeom>
              <a:avLst/>
              <a:gdLst/>
              <a:ahLst/>
              <a:cxnLst/>
              <a:rect r="r" b="b" t="t" l="l"/>
              <a:pathLst>
                <a:path h="2619810" w="4740236">
                  <a:moveTo>
                    <a:pt x="21938" y="0"/>
                  </a:moveTo>
                  <a:lnTo>
                    <a:pt x="4718298" y="0"/>
                  </a:lnTo>
                  <a:cubicBezTo>
                    <a:pt x="4724116" y="0"/>
                    <a:pt x="4729696" y="2311"/>
                    <a:pt x="4733810" y="6425"/>
                  </a:cubicBezTo>
                  <a:cubicBezTo>
                    <a:pt x="4737925" y="10540"/>
                    <a:pt x="4740236" y="16120"/>
                    <a:pt x="4740236" y="21938"/>
                  </a:cubicBezTo>
                  <a:lnTo>
                    <a:pt x="4740236" y="2597872"/>
                  </a:lnTo>
                  <a:cubicBezTo>
                    <a:pt x="4740236" y="2603690"/>
                    <a:pt x="4737925" y="2609270"/>
                    <a:pt x="4733810" y="2613384"/>
                  </a:cubicBezTo>
                  <a:cubicBezTo>
                    <a:pt x="4729696" y="2617498"/>
                    <a:pt x="4724116" y="2619810"/>
                    <a:pt x="4718298" y="2619810"/>
                  </a:cubicBezTo>
                  <a:lnTo>
                    <a:pt x="21938" y="2619810"/>
                  </a:lnTo>
                  <a:cubicBezTo>
                    <a:pt x="16120" y="2619810"/>
                    <a:pt x="10540" y="2617498"/>
                    <a:pt x="6425" y="2613384"/>
                  </a:cubicBezTo>
                  <a:cubicBezTo>
                    <a:pt x="2311" y="2609270"/>
                    <a:pt x="0" y="2603690"/>
                    <a:pt x="0" y="2597872"/>
                  </a:cubicBezTo>
                  <a:lnTo>
                    <a:pt x="0" y="21938"/>
                  </a:lnTo>
                  <a:cubicBezTo>
                    <a:pt x="0" y="16120"/>
                    <a:pt x="2311" y="10540"/>
                    <a:pt x="6425" y="6425"/>
                  </a:cubicBezTo>
                  <a:cubicBezTo>
                    <a:pt x="10540" y="2311"/>
                    <a:pt x="16120" y="0"/>
                    <a:pt x="21938" y="0"/>
                  </a:cubicBezTo>
                  <a:close/>
                </a:path>
              </a:pathLst>
            </a:custGeom>
            <a:solidFill>
              <a:srgbClr val="EEF4FA"/>
            </a:solidFill>
          </p:spPr>
        </p:sp>
        <p:sp>
          <p:nvSpPr>
            <p:cNvPr name="TextBox 4" id="4"/>
            <p:cNvSpPr txBox="true"/>
            <p:nvPr/>
          </p:nvSpPr>
          <p:spPr>
            <a:xfrm>
              <a:off x="0" y="-38100"/>
              <a:ext cx="4740236" cy="265791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3092447" y="3720102"/>
            <a:ext cx="12103105" cy="6566898"/>
          </a:xfrm>
          <a:custGeom>
            <a:avLst/>
            <a:gdLst/>
            <a:ahLst/>
            <a:cxnLst/>
            <a:rect r="r" b="b" t="t" l="l"/>
            <a:pathLst>
              <a:path h="6566898" w="12103105">
                <a:moveTo>
                  <a:pt x="0" y="0"/>
                </a:moveTo>
                <a:lnTo>
                  <a:pt x="12103106" y="0"/>
                </a:lnTo>
                <a:lnTo>
                  <a:pt x="12103106" y="6566898"/>
                </a:lnTo>
                <a:lnTo>
                  <a:pt x="0" y="6566898"/>
                </a:lnTo>
                <a:lnTo>
                  <a:pt x="0" y="0"/>
                </a:lnTo>
                <a:close/>
              </a:path>
            </a:pathLst>
          </a:custGeom>
          <a:blipFill>
            <a:blip r:embed="rId2"/>
            <a:stretch>
              <a:fillRect l="0" t="-86" r="0" b="-86"/>
            </a:stretch>
          </a:blipFill>
        </p:spPr>
      </p:sp>
      <p:sp>
        <p:nvSpPr>
          <p:cNvPr name="TextBox 6" id="6"/>
          <p:cNvSpPr txBox="true"/>
          <p:nvPr/>
        </p:nvSpPr>
        <p:spPr>
          <a:xfrm rot="0">
            <a:off x="289917" y="1756312"/>
            <a:ext cx="17998083" cy="2191893"/>
          </a:xfrm>
          <a:prstGeom prst="rect">
            <a:avLst/>
          </a:prstGeom>
        </p:spPr>
        <p:txBody>
          <a:bodyPr anchor="t" rtlCol="false" tIns="0" lIns="0" bIns="0" rIns="0">
            <a:spAutoFit/>
          </a:bodyPr>
          <a:lstStyle/>
          <a:p>
            <a:pPr algn="l" marL="626107" indent="-313054" lvl="1">
              <a:lnSpc>
                <a:spcPts val="2870"/>
              </a:lnSpc>
              <a:buFont typeface="Arial"/>
              <a:buChar char="•"/>
            </a:pPr>
            <a:r>
              <a:rPr lang="en-US" sz="2899">
                <a:solidFill>
                  <a:srgbClr val="0F172A"/>
                </a:solidFill>
                <a:latin typeface="DM Sans"/>
                <a:ea typeface="DM Sans"/>
                <a:cs typeface="DM Sans"/>
                <a:sym typeface="DM Sans"/>
              </a:rPr>
              <a:t>Demand falls as weather worsens: 205 (Clear) → 175 (Mist/Cloudy) → 112 (Light Rain/Snow) bikes per hour.</a:t>
            </a:r>
          </a:p>
          <a:p>
            <a:pPr algn="l" marL="626107" indent="-313054" lvl="1">
              <a:lnSpc>
                <a:spcPts val="2870"/>
              </a:lnSpc>
              <a:buFont typeface="Arial"/>
              <a:buChar char="•"/>
            </a:pPr>
            <a:r>
              <a:rPr lang="en-US" sz="2899">
                <a:solidFill>
                  <a:srgbClr val="0F172A"/>
                </a:solidFill>
                <a:latin typeface="DM Sans"/>
                <a:ea typeface="DM Sans"/>
                <a:cs typeface="DM Sans"/>
                <a:sym typeface="DM Sans"/>
              </a:rPr>
              <a:t>Warmer hours see higher demand (temperature r = 0.40), while higher humidity sees lower demand</a:t>
            </a:r>
          </a:p>
          <a:p>
            <a:pPr algn="l">
              <a:lnSpc>
                <a:spcPts val="2870"/>
              </a:lnSpc>
            </a:pPr>
            <a:r>
              <a:rPr lang="en-US" sz="2899">
                <a:solidFill>
                  <a:srgbClr val="0F172A"/>
                </a:solidFill>
                <a:latin typeface="DM Sans"/>
                <a:ea typeface="DM Sans"/>
                <a:cs typeface="DM Sans"/>
                <a:sym typeface="DM Sans"/>
              </a:rPr>
              <a:t>      </a:t>
            </a:r>
            <a:r>
              <a:rPr lang="en-US" sz="2899">
                <a:solidFill>
                  <a:srgbClr val="0F172A"/>
                </a:solidFill>
                <a:latin typeface="DM Sans"/>
                <a:ea typeface="DM Sans"/>
                <a:cs typeface="DM Sans"/>
                <a:sym typeface="DM Sans"/>
              </a:rPr>
              <a:t>(r = −0.32)</a:t>
            </a:r>
          </a:p>
          <a:p>
            <a:pPr algn="l" marL="626107" indent="-313054" lvl="1">
              <a:lnSpc>
                <a:spcPts val="2870"/>
              </a:lnSpc>
              <a:buFont typeface="Arial"/>
              <a:buChar char="•"/>
            </a:pPr>
            <a:r>
              <a:rPr lang="en-US" sz="2899">
                <a:solidFill>
                  <a:srgbClr val="0F172A"/>
                </a:solidFill>
                <a:latin typeface="DM Sans"/>
                <a:ea typeface="DM Sans"/>
                <a:cs typeface="DM Sans"/>
                <a:sym typeface="DM Sans"/>
              </a:rPr>
              <a:t>Plan fleet levels using weather conditions (heavy rain/snow has only 3 records, so it is treated cautiously).</a:t>
            </a:r>
          </a:p>
        </p:txBody>
      </p:sp>
      <p:sp>
        <p:nvSpPr>
          <p:cNvPr name="TextBox 7" id="7"/>
          <p:cNvSpPr txBox="true"/>
          <p:nvPr/>
        </p:nvSpPr>
        <p:spPr>
          <a:xfrm rot="0">
            <a:off x="4208382" y="274730"/>
            <a:ext cx="8880576" cy="961390"/>
          </a:xfrm>
          <a:prstGeom prst="rect">
            <a:avLst/>
          </a:prstGeom>
        </p:spPr>
        <p:txBody>
          <a:bodyPr anchor="t" rtlCol="false" tIns="0" lIns="0" bIns="0" rIns="0">
            <a:spAutoFit/>
          </a:bodyPr>
          <a:lstStyle/>
          <a:p>
            <a:pPr algn="l">
              <a:lnSpc>
                <a:spcPts val="7279"/>
              </a:lnSpc>
            </a:pPr>
            <a:r>
              <a:rPr lang="en-US" sz="6999" b="true">
                <a:solidFill>
                  <a:srgbClr val="1F3A5F"/>
                </a:solidFill>
                <a:latin typeface="Montserrat Bold"/>
                <a:ea typeface="Montserrat Bold"/>
                <a:cs typeface="Montserrat Bold"/>
                <a:sym typeface="Montserrat Bold"/>
              </a:rPr>
              <a:t>Top 3 EDA insights</a:t>
            </a:r>
          </a:p>
        </p:txBody>
      </p:sp>
      <p:sp>
        <p:nvSpPr>
          <p:cNvPr name="TextBox 8" id="8"/>
          <p:cNvSpPr txBox="true"/>
          <p:nvPr/>
        </p:nvSpPr>
        <p:spPr>
          <a:xfrm rot="0">
            <a:off x="465743" y="1274220"/>
            <a:ext cx="12839068" cy="424942"/>
          </a:xfrm>
          <a:prstGeom prst="rect">
            <a:avLst/>
          </a:prstGeom>
        </p:spPr>
        <p:txBody>
          <a:bodyPr anchor="t" rtlCol="false" tIns="0" lIns="0" bIns="0" rIns="0">
            <a:spAutoFit/>
          </a:bodyPr>
          <a:lstStyle/>
          <a:p>
            <a:pPr algn="l">
              <a:lnSpc>
                <a:spcPts val="3223"/>
              </a:lnSpc>
            </a:pPr>
            <a:r>
              <a:rPr lang="en-US" sz="3099" b="true">
                <a:solidFill>
                  <a:srgbClr val="1F3A5F"/>
                </a:solidFill>
                <a:latin typeface="DM Sans Bold"/>
                <a:ea typeface="DM Sans Bold"/>
                <a:cs typeface="DM Sans Bold"/>
                <a:sym typeface="DM Sans Bold"/>
              </a:rPr>
              <a:t>Insight 3: Weather is associated with demand</a:t>
            </a:r>
          </a:p>
        </p:txBody>
      </p:sp>
    </p:spTree>
  </p:cSld>
  <p:clrMapOvr>
    <a:masterClrMapping/>
  </p:clrMapOvr>
  <p:transition spd="slow">
    <p:push dir="l"/>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45264" y="353306"/>
            <a:ext cx="17639848" cy="9580389"/>
            <a:chOff x="0" y="0"/>
            <a:chExt cx="4645886" cy="2523230"/>
          </a:xfrm>
        </p:grpSpPr>
        <p:sp>
          <p:nvSpPr>
            <p:cNvPr name="Freeform 3" id="3"/>
            <p:cNvSpPr/>
            <p:nvPr/>
          </p:nvSpPr>
          <p:spPr>
            <a:xfrm flipH="false" flipV="false" rot="0">
              <a:off x="0" y="0"/>
              <a:ext cx="4645886" cy="2523230"/>
            </a:xfrm>
            <a:custGeom>
              <a:avLst/>
              <a:gdLst/>
              <a:ahLst/>
              <a:cxnLst/>
              <a:rect r="r" b="b" t="t" l="l"/>
              <a:pathLst>
                <a:path h="2523230" w="4645886">
                  <a:moveTo>
                    <a:pt x="22383" y="0"/>
                  </a:moveTo>
                  <a:lnTo>
                    <a:pt x="4623503" y="0"/>
                  </a:lnTo>
                  <a:cubicBezTo>
                    <a:pt x="4629439" y="0"/>
                    <a:pt x="4635132" y="2358"/>
                    <a:pt x="4639330" y="6556"/>
                  </a:cubicBezTo>
                  <a:cubicBezTo>
                    <a:pt x="4643527" y="10754"/>
                    <a:pt x="4645886" y="16447"/>
                    <a:pt x="4645886" y="22383"/>
                  </a:cubicBezTo>
                  <a:lnTo>
                    <a:pt x="4645886" y="2500847"/>
                  </a:lnTo>
                  <a:cubicBezTo>
                    <a:pt x="4645886" y="2506783"/>
                    <a:pt x="4643527" y="2512476"/>
                    <a:pt x="4639330" y="2516674"/>
                  </a:cubicBezTo>
                  <a:cubicBezTo>
                    <a:pt x="4635132" y="2520872"/>
                    <a:pt x="4629439" y="2523230"/>
                    <a:pt x="4623503" y="2523230"/>
                  </a:cubicBezTo>
                  <a:lnTo>
                    <a:pt x="22383" y="2523230"/>
                  </a:lnTo>
                  <a:cubicBezTo>
                    <a:pt x="16447" y="2523230"/>
                    <a:pt x="10754" y="2520872"/>
                    <a:pt x="6556" y="2516674"/>
                  </a:cubicBezTo>
                  <a:cubicBezTo>
                    <a:pt x="2358" y="2512476"/>
                    <a:pt x="0" y="2506783"/>
                    <a:pt x="0" y="2500847"/>
                  </a:cubicBezTo>
                  <a:lnTo>
                    <a:pt x="0" y="22383"/>
                  </a:lnTo>
                  <a:cubicBezTo>
                    <a:pt x="0" y="16447"/>
                    <a:pt x="2358" y="10754"/>
                    <a:pt x="6556" y="6556"/>
                  </a:cubicBezTo>
                  <a:cubicBezTo>
                    <a:pt x="10754" y="2358"/>
                    <a:pt x="16447" y="0"/>
                    <a:pt x="22383" y="0"/>
                  </a:cubicBezTo>
                  <a:close/>
                </a:path>
              </a:pathLst>
            </a:custGeom>
            <a:solidFill>
              <a:srgbClr val="EEF4FA"/>
            </a:solidFill>
          </p:spPr>
        </p:sp>
        <p:sp>
          <p:nvSpPr>
            <p:cNvPr name="TextBox 4" id="4"/>
            <p:cNvSpPr txBox="true"/>
            <p:nvPr/>
          </p:nvSpPr>
          <p:spPr>
            <a:xfrm>
              <a:off x="0" y="-38100"/>
              <a:ext cx="4645886" cy="2561330"/>
            </a:xfrm>
            <a:prstGeom prst="rect">
              <a:avLst/>
            </a:prstGeom>
          </p:spPr>
          <p:txBody>
            <a:bodyPr anchor="ctr" rtlCol="false" tIns="50800" lIns="50800" bIns="50800" rIns="50800"/>
            <a:lstStyle/>
            <a:p>
              <a:pPr algn="ctr">
                <a:lnSpc>
                  <a:spcPts val="2659"/>
                </a:lnSpc>
              </a:pPr>
            </a:p>
            <a:p>
              <a:pPr algn="ctr" marL="0" indent="0" lvl="0">
                <a:lnSpc>
                  <a:spcPts val="2659"/>
                </a:lnSpc>
                <a:spcBef>
                  <a:spcPct val="0"/>
                </a:spcBef>
              </a:pPr>
            </a:p>
          </p:txBody>
        </p:sp>
      </p:grpSp>
      <p:sp>
        <p:nvSpPr>
          <p:cNvPr name="Freeform 5" id="5"/>
          <p:cNvSpPr/>
          <p:nvPr/>
        </p:nvSpPr>
        <p:spPr>
          <a:xfrm flipH="false" flipV="false" rot="0">
            <a:off x="1028700" y="3338190"/>
            <a:ext cx="15750216" cy="4544593"/>
          </a:xfrm>
          <a:custGeom>
            <a:avLst/>
            <a:gdLst/>
            <a:ahLst/>
            <a:cxnLst/>
            <a:rect r="r" b="b" t="t" l="l"/>
            <a:pathLst>
              <a:path h="4544593" w="15750216">
                <a:moveTo>
                  <a:pt x="0" y="0"/>
                </a:moveTo>
                <a:lnTo>
                  <a:pt x="15750216" y="0"/>
                </a:lnTo>
                <a:lnTo>
                  <a:pt x="15750216" y="4544593"/>
                </a:lnTo>
                <a:lnTo>
                  <a:pt x="0" y="4544593"/>
                </a:lnTo>
                <a:lnTo>
                  <a:pt x="0" y="0"/>
                </a:lnTo>
                <a:close/>
              </a:path>
            </a:pathLst>
          </a:custGeom>
          <a:blipFill>
            <a:blip r:embed="rId2"/>
            <a:stretch>
              <a:fillRect l="0" t="-10552" r="0" b="-17939"/>
            </a:stretch>
          </a:blipFill>
        </p:spPr>
      </p:sp>
      <p:sp>
        <p:nvSpPr>
          <p:cNvPr name="TextBox 6" id="6"/>
          <p:cNvSpPr txBox="true"/>
          <p:nvPr/>
        </p:nvSpPr>
        <p:spPr>
          <a:xfrm rot="0">
            <a:off x="815736" y="1074556"/>
            <a:ext cx="14299507" cy="730377"/>
          </a:xfrm>
          <a:prstGeom prst="rect">
            <a:avLst/>
          </a:prstGeom>
        </p:spPr>
        <p:txBody>
          <a:bodyPr anchor="t" rtlCol="false" tIns="0" lIns="0" bIns="0" rIns="0">
            <a:spAutoFit/>
          </a:bodyPr>
          <a:lstStyle/>
          <a:p>
            <a:pPr algn="l" marL="0" indent="0" lvl="0">
              <a:lnSpc>
                <a:spcPts val="5544"/>
              </a:lnSpc>
            </a:pPr>
            <a:r>
              <a:rPr lang="en-US" b="true" sz="5600">
                <a:solidFill>
                  <a:srgbClr val="0F172A"/>
                </a:solidFill>
                <a:latin typeface="DM Sans Bold"/>
                <a:ea typeface="DM Sans Bold"/>
                <a:cs typeface="DM Sans Bold"/>
                <a:sym typeface="DM Sans Bold"/>
              </a:rPr>
              <a:t>Machine Learning Approach &amp; Algorithms</a:t>
            </a:r>
          </a:p>
        </p:txBody>
      </p:sp>
      <p:sp>
        <p:nvSpPr>
          <p:cNvPr name="TextBox 7" id="7"/>
          <p:cNvSpPr txBox="true"/>
          <p:nvPr/>
        </p:nvSpPr>
        <p:spPr>
          <a:xfrm rot="0">
            <a:off x="907256" y="2008168"/>
            <a:ext cx="17373600" cy="285750"/>
          </a:xfrm>
          <a:prstGeom prst="rect">
            <a:avLst/>
          </a:prstGeom>
        </p:spPr>
        <p:txBody>
          <a:bodyPr anchor="t" rtlCol="false" tIns="0" lIns="0" bIns="0" rIns="0">
            <a:spAutoFit/>
          </a:bodyPr>
          <a:lstStyle/>
          <a:p>
            <a:pPr algn="l">
              <a:lnSpc>
                <a:spcPts val="2160"/>
              </a:lnSpc>
            </a:pPr>
            <a:r>
              <a:rPr lang="en-US" sz="1800" b="true">
                <a:solidFill>
                  <a:srgbClr val="64748B"/>
                </a:solidFill>
                <a:latin typeface="Arimo Bold"/>
                <a:ea typeface="Arimo Bold"/>
                <a:cs typeface="Arimo Bold"/>
                <a:sym typeface="Arimo Bold"/>
              </a:rPr>
              <a:t>Evaluating ensemble paradigms for high-dimensional non-linear relationships</a:t>
            </a:r>
          </a:p>
        </p:txBody>
      </p:sp>
    </p:spTree>
  </p:cSld>
  <p:clrMapOvr>
    <a:masterClrMapping/>
  </p:clrMapOvr>
  <p:transition spd="slow">
    <p:push dir="l"/>
  </p:transition>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245264" y="353306"/>
            <a:ext cx="17639848" cy="9580389"/>
            <a:chOff x="0" y="0"/>
            <a:chExt cx="4645886" cy="2523230"/>
          </a:xfrm>
        </p:grpSpPr>
        <p:sp>
          <p:nvSpPr>
            <p:cNvPr name="Freeform 3" id="3"/>
            <p:cNvSpPr/>
            <p:nvPr/>
          </p:nvSpPr>
          <p:spPr>
            <a:xfrm flipH="false" flipV="false" rot="0">
              <a:off x="0" y="0"/>
              <a:ext cx="4645886" cy="2523230"/>
            </a:xfrm>
            <a:custGeom>
              <a:avLst/>
              <a:gdLst/>
              <a:ahLst/>
              <a:cxnLst/>
              <a:rect r="r" b="b" t="t" l="l"/>
              <a:pathLst>
                <a:path h="2523230" w="4645886">
                  <a:moveTo>
                    <a:pt x="22383" y="0"/>
                  </a:moveTo>
                  <a:lnTo>
                    <a:pt x="4623503" y="0"/>
                  </a:lnTo>
                  <a:cubicBezTo>
                    <a:pt x="4629439" y="0"/>
                    <a:pt x="4635132" y="2358"/>
                    <a:pt x="4639330" y="6556"/>
                  </a:cubicBezTo>
                  <a:cubicBezTo>
                    <a:pt x="4643527" y="10754"/>
                    <a:pt x="4645886" y="16447"/>
                    <a:pt x="4645886" y="22383"/>
                  </a:cubicBezTo>
                  <a:lnTo>
                    <a:pt x="4645886" y="2500847"/>
                  </a:lnTo>
                  <a:cubicBezTo>
                    <a:pt x="4645886" y="2506783"/>
                    <a:pt x="4643527" y="2512476"/>
                    <a:pt x="4639330" y="2516674"/>
                  </a:cubicBezTo>
                  <a:cubicBezTo>
                    <a:pt x="4635132" y="2520872"/>
                    <a:pt x="4629439" y="2523230"/>
                    <a:pt x="4623503" y="2523230"/>
                  </a:cubicBezTo>
                  <a:lnTo>
                    <a:pt x="22383" y="2523230"/>
                  </a:lnTo>
                  <a:cubicBezTo>
                    <a:pt x="16447" y="2523230"/>
                    <a:pt x="10754" y="2520872"/>
                    <a:pt x="6556" y="2516674"/>
                  </a:cubicBezTo>
                  <a:cubicBezTo>
                    <a:pt x="2358" y="2512476"/>
                    <a:pt x="0" y="2506783"/>
                    <a:pt x="0" y="2500847"/>
                  </a:cubicBezTo>
                  <a:lnTo>
                    <a:pt x="0" y="22383"/>
                  </a:lnTo>
                  <a:cubicBezTo>
                    <a:pt x="0" y="16447"/>
                    <a:pt x="2358" y="10754"/>
                    <a:pt x="6556" y="6556"/>
                  </a:cubicBezTo>
                  <a:cubicBezTo>
                    <a:pt x="10754" y="2358"/>
                    <a:pt x="16447" y="0"/>
                    <a:pt x="22383" y="0"/>
                  </a:cubicBezTo>
                  <a:close/>
                </a:path>
              </a:pathLst>
            </a:custGeom>
            <a:solidFill>
              <a:srgbClr val="EEF4FA"/>
            </a:solidFill>
          </p:spPr>
        </p:sp>
        <p:sp>
          <p:nvSpPr>
            <p:cNvPr name="TextBox 4" id="4"/>
            <p:cNvSpPr txBox="true"/>
            <p:nvPr/>
          </p:nvSpPr>
          <p:spPr>
            <a:xfrm>
              <a:off x="0" y="-38100"/>
              <a:ext cx="4645886" cy="2561330"/>
            </a:xfrm>
            <a:prstGeom prst="rect">
              <a:avLst/>
            </a:prstGeom>
          </p:spPr>
          <p:txBody>
            <a:bodyPr anchor="ctr" rtlCol="false" tIns="50800" lIns="50800" bIns="50800" rIns="50800"/>
            <a:lstStyle/>
            <a:p>
              <a:pPr algn="ctr">
                <a:lnSpc>
                  <a:spcPts val="2659"/>
                </a:lnSpc>
              </a:pPr>
            </a:p>
            <a:p>
              <a:pPr algn="ctr" marL="0" indent="0" lvl="0">
                <a:lnSpc>
                  <a:spcPts val="2659"/>
                </a:lnSpc>
                <a:spcBef>
                  <a:spcPct val="0"/>
                </a:spcBef>
              </a:pPr>
            </a:p>
          </p:txBody>
        </p:sp>
      </p:grpSp>
      <p:sp>
        <p:nvSpPr>
          <p:cNvPr name="TextBox 5" id="5"/>
          <p:cNvSpPr txBox="true"/>
          <p:nvPr/>
        </p:nvSpPr>
        <p:spPr>
          <a:xfrm rot="0">
            <a:off x="815736" y="1074556"/>
            <a:ext cx="14299507" cy="730377"/>
          </a:xfrm>
          <a:prstGeom prst="rect">
            <a:avLst/>
          </a:prstGeom>
        </p:spPr>
        <p:txBody>
          <a:bodyPr anchor="t" rtlCol="false" tIns="0" lIns="0" bIns="0" rIns="0">
            <a:spAutoFit/>
          </a:bodyPr>
          <a:lstStyle/>
          <a:p>
            <a:pPr algn="l" marL="0" indent="0" lvl="0">
              <a:lnSpc>
                <a:spcPts val="5544"/>
              </a:lnSpc>
            </a:pPr>
            <a:r>
              <a:rPr lang="en-US" b="true" sz="5600">
                <a:solidFill>
                  <a:srgbClr val="0F172A"/>
                </a:solidFill>
                <a:latin typeface="DM Sans Bold"/>
                <a:ea typeface="DM Sans Bold"/>
                <a:cs typeface="DM Sans Bold"/>
                <a:sym typeface="DM Sans Bold"/>
              </a:rPr>
              <a:t>Machine Learning Approach &amp; Algorithms</a:t>
            </a:r>
          </a:p>
        </p:txBody>
      </p:sp>
      <p:sp>
        <p:nvSpPr>
          <p:cNvPr name="TextBox 6" id="6"/>
          <p:cNvSpPr txBox="true"/>
          <p:nvPr/>
        </p:nvSpPr>
        <p:spPr>
          <a:xfrm rot="0">
            <a:off x="907256" y="2008168"/>
            <a:ext cx="17373600" cy="285750"/>
          </a:xfrm>
          <a:prstGeom prst="rect">
            <a:avLst/>
          </a:prstGeom>
        </p:spPr>
        <p:txBody>
          <a:bodyPr anchor="t" rtlCol="false" tIns="0" lIns="0" bIns="0" rIns="0">
            <a:spAutoFit/>
          </a:bodyPr>
          <a:lstStyle/>
          <a:p>
            <a:pPr algn="l">
              <a:lnSpc>
                <a:spcPts val="2160"/>
              </a:lnSpc>
            </a:pPr>
            <a:r>
              <a:rPr lang="en-US" sz="1800" b="true">
                <a:solidFill>
                  <a:srgbClr val="64748B"/>
                </a:solidFill>
                <a:latin typeface="Arimo Bold"/>
                <a:ea typeface="Arimo Bold"/>
                <a:cs typeface="Arimo Bold"/>
                <a:sym typeface="Arimo Bold"/>
              </a:rPr>
              <a:t>Evaluating ensemble paradigms for high-dimensional non-linear relationships</a:t>
            </a:r>
          </a:p>
        </p:txBody>
      </p:sp>
      <p:sp>
        <p:nvSpPr>
          <p:cNvPr name="TextBox 7" id="7"/>
          <p:cNvSpPr txBox="true"/>
          <p:nvPr/>
        </p:nvSpPr>
        <p:spPr>
          <a:xfrm rot="0">
            <a:off x="2068432" y="2763448"/>
            <a:ext cx="3431530" cy="596945"/>
          </a:xfrm>
          <a:prstGeom prst="rect">
            <a:avLst/>
          </a:prstGeom>
        </p:spPr>
        <p:txBody>
          <a:bodyPr anchor="t" rtlCol="false" tIns="0" lIns="0" bIns="0" rIns="0">
            <a:spAutoFit/>
          </a:bodyPr>
          <a:lstStyle/>
          <a:p>
            <a:pPr algn="ctr">
              <a:lnSpc>
                <a:spcPts val="4897"/>
              </a:lnSpc>
              <a:spcBef>
                <a:spcPct val="0"/>
              </a:spcBef>
            </a:pPr>
            <a:r>
              <a:rPr lang="en-US" b="true" sz="3498" u="sng">
                <a:solidFill>
                  <a:srgbClr val="000000"/>
                </a:solidFill>
                <a:latin typeface="Inter Bold"/>
                <a:ea typeface="Inter Bold"/>
                <a:cs typeface="Inter Bold"/>
                <a:sym typeface="Inter Bold"/>
              </a:rPr>
              <a:t>Random Forest  </a:t>
            </a:r>
          </a:p>
        </p:txBody>
      </p:sp>
      <p:sp>
        <p:nvSpPr>
          <p:cNvPr name="TextBox 8" id="8"/>
          <p:cNvSpPr txBox="true"/>
          <p:nvPr/>
        </p:nvSpPr>
        <p:spPr>
          <a:xfrm rot="0">
            <a:off x="2068432" y="3827118"/>
            <a:ext cx="14099639" cy="1109390"/>
          </a:xfrm>
          <a:prstGeom prst="rect">
            <a:avLst/>
          </a:prstGeom>
        </p:spPr>
        <p:txBody>
          <a:bodyPr anchor="t" rtlCol="false" tIns="0" lIns="0" bIns="0" rIns="0">
            <a:spAutoFit/>
          </a:bodyPr>
          <a:lstStyle/>
          <a:p>
            <a:pPr algn="l">
              <a:lnSpc>
                <a:spcPts val="4477"/>
              </a:lnSpc>
              <a:spcBef>
                <a:spcPct val="0"/>
              </a:spcBef>
            </a:pPr>
            <a:r>
              <a:rPr lang="en-US" b="true" sz="3198" u="sng">
                <a:solidFill>
                  <a:srgbClr val="000000"/>
                </a:solidFill>
                <a:latin typeface="Inter Bold"/>
                <a:ea typeface="Inter Bold"/>
                <a:cs typeface="Inter Bold"/>
                <a:sym typeface="Inter Bold"/>
              </a:rPr>
              <a:t>Bagging ensemble that reduces variance by averaging multiple uncorrelated decision trees trained on bootstrap samples.</a:t>
            </a:r>
          </a:p>
        </p:txBody>
      </p:sp>
      <p:sp>
        <p:nvSpPr>
          <p:cNvPr name="TextBox 9" id="9"/>
          <p:cNvSpPr txBox="true"/>
          <p:nvPr/>
        </p:nvSpPr>
        <p:spPr>
          <a:xfrm rot="0">
            <a:off x="-223447" y="5457871"/>
            <a:ext cx="8015288" cy="596945"/>
          </a:xfrm>
          <a:prstGeom prst="rect">
            <a:avLst/>
          </a:prstGeom>
        </p:spPr>
        <p:txBody>
          <a:bodyPr anchor="t" rtlCol="false" tIns="0" lIns="0" bIns="0" rIns="0">
            <a:spAutoFit/>
          </a:bodyPr>
          <a:lstStyle/>
          <a:p>
            <a:pPr algn="ctr">
              <a:lnSpc>
                <a:spcPts val="4897"/>
              </a:lnSpc>
              <a:spcBef>
                <a:spcPct val="0"/>
              </a:spcBef>
            </a:pPr>
            <a:r>
              <a:rPr lang="en-US" b="true" sz="3498" u="sng">
                <a:solidFill>
                  <a:srgbClr val="000000"/>
                </a:solidFill>
                <a:latin typeface="Inter Bold"/>
                <a:ea typeface="Inter Bold"/>
                <a:cs typeface="Inter Bold"/>
                <a:sym typeface="Inter Bold"/>
              </a:rPr>
              <a:t>Why Selected:</a:t>
            </a:r>
          </a:p>
        </p:txBody>
      </p:sp>
      <p:sp>
        <p:nvSpPr>
          <p:cNvPr name="TextBox 10" id="10"/>
          <p:cNvSpPr txBox="true"/>
          <p:nvPr/>
        </p:nvSpPr>
        <p:spPr>
          <a:xfrm rot="0">
            <a:off x="2212308" y="6578691"/>
            <a:ext cx="12408276" cy="1145430"/>
          </a:xfrm>
          <a:prstGeom prst="rect">
            <a:avLst/>
          </a:prstGeom>
        </p:spPr>
        <p:txBody>
          <a:bodyPr anchor="t" rtlCol="false" tIns="0" lIns="0" bIns="0" rIns="0">
            <a:spAutoFit/>
          </a:bodyPr>
          <a:lstStyle/>
          <a:p>
            <a:pPr algn="l">
              <a:lnSpc>
                <a:spcPts val="4591"/>
              </a:lnSpc>
              <a:spcBef>
                <a:spcPct val="0"/>
              </a:spcBef>
            </a:pPr>
            <a:r>
              <a:rPr lang="en-US" b="true" sz="3279" u="sng">
                <a:solidFill>
                  <a:srgbClr val="000000"/>
                </a:solidFill>
                <a:latin typeface="Inter Bold"/>
                <a:ea typeface="Inter Bold"/>
                <a:cs typeface="Inter Bold"/>
                <a:sym typeface="Inter Bold"/>
              </a:rPr>
              <a:t>Robust against outliers, captures complex non-linear feature interactions without feature scaling.</a:t>
            </a:r>
          </a:p>
        </p:txBody>
      </p:sp>
    </p:spTree>
  </p:cSld>
  <p:clrMapOvr>
    <a:masterClrMapping/>
  </p:clrMapOvr>
  <p:transition spd="slow">
    <p:push dir="l"/>
  </p:transition>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24076" y="353306"/>
            <a:ext cx="17639848" cy="9580389"/>
            <a:chOff x="0" y="0"/>
            <a:chExt cx="4645886" cy="2523230"/>
          </a:xfrm>
        </p:grpSpPr>
        <p:sp>
          <p:nvSpPr>
            <p:cNvPr name="Freeform 3" id="3"/>
            <p:cNvSpPr/>
            <p:nvPr/>
          </p:nvSpPr>
          <p:spPr>
            <a:xfrm flipH="false" flipV="false" rot="0">
              <a:off x="0" y="0"/>
              <a:ext cx="4645886" cy="2523230"/>
            </a:xfrm>
            <a:custGeom>
              <a:avLst/>
              <a:gdLst/>
              <a:ahLst/>
              <a:cxnLst/>
              <a:rect r="r" b="b" t="t" l="l"/>
              <a:pathLst>
                <a:path h="2523230" w="4645886">
                  <a:moveTo>
                    <a:pt x="22383" y="0"/>
                  </a:moveTo>
                  <a:lnTo>
                    <a:pt x="4623503" y="0"/>
                  </a:lnTo>
                  <a:cubicBezTo>
                    <a:pt x="4629439" y="0"/>
                    <a:pt x="4635132" y="2358"/>
                    <a:pt x="4639330" y="6556"/>
                  </a:cubicBezTo>
                  <a:cubicBezTo>
                    <a:pt x="4643527" y="10754"/>
                    <a:pt x="4645886" y="16447"/>
                    <a:pt x="4645886" y="22383"/>
                  </a:cubicBezTo>
                  <a:lnTo>
                    <a:pt x="4645886" y="2500847"/>
                  </a:lnTo>
                  <a:cubicBezTo>
                    <a:pt x="4645886" y="2506783"/>
                    <a:pt x="4643527" y="2512476"/>
                    <a:pt x="4639330" y="2516674"/>
                  </a:cubicBezTo>
                  <a:cubicBezTo>
                    <a:pt x="4635132" y="2520872"/>
                    <a:pt x="4629439" y="2523230"/>
                    <a:pt x="4623503" y="2523230"/>
                  </a:cubicBezTo>
                  <a:lnTo>
                    <a:pt x="22383" y="2523230"/>
                  </a:lnTo>
                  <a:cubicBezTo>
                    <a:pt x="16447" y="2523230"/>
                    <a:pt x="10754" y="2520872"/>
                    <a:pt x="6556" y="2516674"/>
                  </a:cubicBezTo>
                  <a:cubicBezTo>
                    <a:pt x="2358" y="2512476"/>
                    <a:pt x="0" y="2506783"/>
                    <a:pt x="0" y="2500847"/>
                  </a:cubicBezTo>
                  <a:lnTo>
                    <a:pt x="0" y="22383"/>
                  </a:lnTo>
                  <a:cubicBezTo>
                    <a:pt x="0" y="16447"/>
                    <a:pt x="2358" y="10754"/>
                    <a:pt x="6556" y="6556"/>
                  </a:cubicBezTo>
                  <a:cubicBezTo>
                    <a:pt x="10754" y="2358"/>
                    <a:pt x="16447" y="0"/>
                    <a:pt x="22383" y="0"/>
                  </a:cubicBezTo>
                  <a:close/>
                </a:path>
              </a:pathLst>
            </a:custGeom>
            <a:solidFill>
              <a:srgbClr val="EEF4FA"/>
            </a:solidFill>
          </p:spPr>
        </p:sp>
        <p:sp>
          <p:nvSpPr>
            <p:cNvPr name="TextBox 4" id="4"/>
            <p:cNvSpPr txBox="true"/>
            <p:nvPr/>
          </p:nvSpPr>
          <p:spPr>
            <a:xfrm>
              <a:off x="0" y="-38100"/>
              <a:ext cx="4645886" cy="2561330"/>
            </a:xfrm>
            <a:prstGeom prst="rect">
              <a:avLst/>
            </a:prstGeom>
          </p:spPr>
          <p:txBody>
            <a:bodyPr anchor="ctr" rtlCol="false" tIns="50800" lIns="50800" bIns="50800" rIns="50800"/>
            <a:lstStyle/>
            <a:p>
              <a:pPr algn="ctr">
                <a:lnSpc>
                  <a:spcPts val="2659"/>
                </a:lnSpc>
              </a:pPr>
            </a:p>
            <a:p>
              <a:pPr algn="ctr" marL="0" indent="0" lvl="0">
                <a:lnSpc>
                  <a:spcPts val="2659"/>
                </a:lnSpc>
                <a:spcBef>
                  <a:spcPct val="0"/>
                </a:spcBef>
              </a:pPr>
            </a:p>
          </p:txBody>
        </p:sp>
      </p:grpSp>
      <p:grpSp>
        <p:nvGrpSpPr>
          <p:cNvPr name="Group 5" id="5"/>
          <p:cNvGrpSpPr/>
          <p:nvPr/>
        </p:nvGrpSpPr>
        <p:grpSpPr>
          <a:xfrm rot="0">
            <a:off x="1165035" y="3008998"/>
            <a:ext cx="5272088" cy="2243090"/>
            <a:chOff x="0" y="0"/>
            <a:chExt cx="7029450" cy="2990787"/>
          </a:xfrm>
        </p:grpSpPr>
        <p:sp>
          <p:nvSpPr>
            <p:cNvPr name="Freeform 6" id="6"/>
            <p:cNvSpPr/>
            <p:nvPr/>
          </p:nvSpPr>
          <p:spPr>
            <a:xfrm flipH="false" flipV="false" rot="0">
              <a:off x="0" y="0"/>
              <a:ext cx="7029450" cy="2990787"/>
            </a:xfrm>
            <a:custGeom>
              <a:avLst/>
              <a:gdLst/>
              <a:ahLst/>
              <a:cxnLst/>
              <a:rect r="r" b="b" t="t" l="l"/>
              <a:pathLst>
                <a:path h="2990787" w="7029450">
                  <a:moveTo>
                    <a:pt x="0" y="226387"/>
                  </a:moveTo>
                  <a:cubicBezTo>
                    <a:pt x="0" y="101380"/>
                    <a:pt x="102997" y="0"/>
                    <a:pt x="229997" y="0"/>
                  </a:cubicBezTo>
                  <a:lnTo>
                    <a:pt x="6799453" y="0"/>
                  </a:lnTo>
                  <a:cubicBezTo>
                    <a:pt x="6926453" y="0"/>
                    <a:pt x="7029450" y="101380"/>
                    <a:pt x="7029450" y="226387"/>
                  </a:cubicBezTo>
                  <a:lnTo>
                    <a:pt x="7029450" y="2764400"/>
                  </a:lnTo>
                  <a:cubicBezTo>
                    <a:pt x="7029450" y="2889407"/>
                    <a:pt x="6926453" y="2990787"/>
                    <a:pt x="6799453" y="2990787"/>
                  </a:cubicBezTo>
                  <a:lnTo>
                    <a:pt x="229997" y="2990787"/>
                  </a:lnTo>
                  <a:cubicBezTo>
                    <a:pt x="102997" y="2990787"/>
                    <a:pt x="0" y="2889407"/>
                    <a:pt x="0" y="2764400"/>
                  </a:cubicBezTo>
                  <a:close/>
                </a:path>
              </a:pathLst>
            </a:custGeom>
            <a:solidFill>
              <a:srgbClr val="F8FAFC"/>
            </a:solidFill>
            <a:ln w="14288" cap="sq">
              <a:solidFill>
                <a:srgbClr val="E2E8F0"/>
              </a:solidFill>
              <a:prstDash val="solid"/>
              <a:miter/>
            </a:ln>
          </p:spPr>
        </p:sp>
      </p:grpSp>
      <p:grpSp>
        <p:nvGrpSpPr>
          <p:cNvPr name="Group 7" id="7"/>
          <p:cNvGrpSpPr/>
          <p:nvPr/>
        </p:nvGrpSpPr>
        <p:grpSpPr>
          <a:xfrm rot="0">
            <a:off x="6752223" y="3008998"/>
            <a:ext cx="5272088" cy="2278856"/>
            <a:chOff x="0" y="0"/>
            <a:chExt cx="7029450" cy="3038475"/>
          </a:xfrm>
        </p:grpSpPr>
        <p:sp>
          <p:nvSpPr>
            <p:cNvPr name="Freeform 8" id="8"/>
            <p:cNvSpPr/>
            <p:nvPr/>
          </p:nvSpPr>
          <p:spPr>
            <a:xfrm flipH="false" flipV="false" rot="0">
              <a:off x="0" y="0"/>
              <a:ext cx="7029450" cy="3038475"/>
            </a:xfrm>
            <a:custGeom>
              <a:avLst/>
              <a:gdLst/>
              <a:ahLst/>
              <a:cxnLst/>
              <a:rect r="r" b="b" t="t" l="l"/>
              <a:pathLst>
                <a:path h="3038475" w="7029450">
                  <a:moveTo>
                    <a:pt x="0" y="229997"/>
                  </a:moveTo>
                  <a:cubicBezTo>
                    <a:pt x="0" y="102997"/>
                    <a:pt x="102997" y="0"/>
                    <a:pt x="229997" y="0"/>
                  </a:cubicBezTo>
                  <a:lnTo>
                    <a:pt x="6799453" y="0"/>
                  </a:lnTo>
                  <a:cubicBezTo>
                    <a:pt x="6926453" y="0"/>
                    <a:pt x="7029450" y="102997"/>
                    <a:pt x="7029450" y="229997"/>
                  </a:cubicBezTo>
                  <a:lnTo>
                    <a:pt x="7029450" y="2808478"/>
                  </a:lnTo>
                  <a:cubicBezTo>
                    <a:pt x="7029450" y="2935478"/>
                    <a:pt x="6926453" y="3038475"/>
                    <a:pt x="6799453" y="3038475"/>
                  </a:cubicBezTo>
                  <a:lnTo>
                    <a:pt x="229997" y="3038475"/>
                  </a:lnTo>
                  <a:cubicBezTo>
                    <a:pt x="102997" y="3038475"/>
                    <a:pt x="0" y="2935478"/>
                    <a:pt x="0" y="2808478"/>
                  </a:cubicBezTo>
                  <a:close/>
                </a:path>
              </a:pathLst>
            </a:custGeom>
            <a:solidFill>
              <a:srgbClr val="F8FAFC"/>
            </a:solidFill>
            <a:ln w="14288" cap="sq">
              <a:solidFill>
                <a:srgbClr val="E2E8F0"/>
              </a:solidFill>
              <a:prstDash val="solid"/>
              <a:miter/>
            </a:ln>
          </p:spPr>
        </p:sp>
      </p:grpSp>
      <p:sp>
        <p:nvSpPr>
          <p:cNvPr name="TextBox 9" id="9"/>
          <p:cNvSpPr txBox="true"/>
          <p:nvPr/>
        </p:nvSpPr>
        <p:spPr>
          <a:xfrm rot="0">
            <a:off x="7207831" y="3312243"/>
            <a:ext cx="2572792" cy="314325"/>
          </a:xfrm>
          <a:prstGeom prst="rect">
            <a:avLst/>
          </a:prstGeom>
        </p:spPr>
        <p:txBody>
          <a:bodyPr anchor="t" rtlCol="false" tIns="0" lIns="0" bIns="0" rIns="0">
            <a:spAutoFit/>
          </a:bodyPr>
          <a:lstStyle/>
          <a:p>
            <a:pPr algn="l">
              <a:lnSpc>
                <a:spcPts val="2430"/>
              </a:lnSpc>
            </a:pPr>
            <a:r>
              <a:rPr lang="en-US" b="true" sz="2025">
                <a:solidFill>
                  <a:srgbClr val="0D0D0E"/>
                </a:solidFill>
                <a:latin typeface="Arimo Bold"/>
                <a:ea typeface="Arimo Bold"/>
                <a:cs typeface="Arimo Bold"/>
                <a:sym typeface="Arimo Bold"/>
              </a:rPr>
              <a:t>Hyperparameter Grid</a:t>
            </a:r>
          </a:p>
        </p:txBody>
      </p:sp>
      <p:grpSp>
        <p:nvGrpSpPr>
          <p:cNvPr name="Group 10" id="10"/>
          <p:cNvGrpSpPr/>
          <p:nvPr/>
        </p:nvGrpSpPr>
        <p:grpSpPr>
          <a:xfrm rot="0">
            <a:off x="12338636" y="3008998"/>
            <a:ext cx="5272088" cy="2278856"/>
            <a:chOff x="0" y="0"/>
            <a:chExt cx="7029450" cy="3038475"/>
          </a:xfrm>
        </p:grpSpPr>
        <p:sp>
          <p:nvSpPr>
            <p:cNvPr name="Freeform 11" id="11"/>
            <p:cNvSpPr/>
            <p:nvPr/>
          </p:nvSpPr>
          <p:spPr>
            <a:xfrm flipH="false" flipV="false" rot="0">
              <a:off x="0" y="0"/>
              <a:ext cx="7029450" cy="3038475"/>
            </a:xfrm>
            <a:custGeom>
              <a:avLst/>
              <a:gdLst/>
              <a:ahLst/>
              <a:cxnLst/>
              <a:rect r="r" b="b" t="t" l="l"/>
              <a:pathLst>
                <a:path h="3038475" w="7029450">
                  <a:moveTo>
                    <a:pt x="0" y="229997"/>
                  </a:moveTo>
                  <a:cubicBezTo>
                    <a:pt x="0" y="102997"/>
                    <a:pt x="102997" y="0"/>
                    <a:pt x="229997" y="0"/>
                  </a:cubicBezTo>
                  <a:lnTo>
                    <a:pt x="6799453" y="0"/>
                  </a:lnTo>
                  <a:cubicBezTo>
                    <a:pt x="6926453" y="0"/>
                    <a:pt x="7029450" y="102997"/>
                    <a:pt x="7029450" y="229997"/>
                  </a:cubicBezTo>
                  <a:lnTo>
                    <a:pt x="7029450" y="2808478"/>
                  </a:lnTo>
                  <a:cubicBezTo>
                    <a:pt x="7029450" y="2935478"/>
                    <a:pt x="6926453" y="3038475"/>
                    <a:pt x="6799453" y="3038475"/>
                  </a:cubicBezTo>
                  <a:lnTo>
                    <a:pt x="229997" y="3038475"/>
                  </a:lnTo>
                  <a:cubicBezTo>
                    <a:pt x="102997" y="3038475"/>
                    <a:pt x="0" y="2935478"/>
                    <a:pt x="0" y="2808478"/>
                  </a:cubicBezTo>
                  <a:close/>
                </a:path>
              </a:pathLst>
            </a:custGeom>
            <a:solidFill>
              <a:srgbClr val="F8FAFC"/>
            </a:solidFill>
            <a:ln w="14288" cap="sq">
              <a:solidFill>
                <a:srgbClr val="E2E8F0"/>
              </a:solidFill>
              <a:prstDash val="solid"/>
              <a:miter/>
            </a:ln>
          </p:spPr>
        </p:sp>
      </p:grpSp>
      <p:sp>
        <p:nvSpPr>
          <p:cNvPr name="TextBox 12" id="12"/>
          <p:cNvSpPr txBox="true"/>
          <p:nvPr/>
        </p:nvSpPr>
        <p:spPr>
          <a:xfrm rot="0">
            <a:off x="815736" y="1074556"/>
            <a:ext cx="15014848" cy="730377"/>
          </a:xfrm>
          <a:prstGeom prst="rect">
            <a:avLst/>
          </a:prstGeom>
        </p:spPr>
        <p:txBody>
          <a:bodyPr anchor="t" rtlCol="false" tIns="0" lIns="0" bIns="0" rIns="0">
            <a:spAutoFit/>
          </a:bodyPr>
          <a:lstStyle/>
          <a:p>
            <a:pPr algn="l" marL="0" indent="0" lvl="0">
              <a:lnSpc>
                <a:spcPts val="5544"/>
              </a:lnSpc>
            </a:pPr>
            <a:r>
              <a:rPr lang="en-US" b="true" sz="5600">
                <a:solidFill>
                  <a:srgbClr val="0F172A"/>
                </a:solidFill>
                <a:latin typeface="DM Sans Bold"/>
                <a:ea typeface="DM Sans Bold"/>
                <a:cs typeface="DM Sans Bold"/>
                <a:sym typeface="DM Sans Bold"/>
              </a:rPr>
              <a:t>Time-Series CV &amp; Hyperparameter Tuning</a:t>
            </a:r>
          </a:p>
        </p:txBody>
      </p:sp>
      <p:sp>
        <p:nvSpPr>
          <p:cNvPr name="TextBox 13" id="13"/>
          <p:cNvSpPr txBox="true"/>
          <p:nvPr/>
        </p:nvSpPr>
        <p:spPr>
          <a:xfrm rot="0">
            <a:off x="907256" y="2008168"/>
            <a:ext cx="17373600" cy="285750"/>
          </a:xfrm>
          <a:prstGeom prst="rect">
            <a:avLst/>
          </a:prstGeom>
        </p:spPr>
        <p:txBody>
          <a:bodyPr anchor="t" rtlCol="false" tIns="0" lIns="0" bIns="0" rIns="0">
            <a:spAutoFit/>
          </a:bodyPr>
          <a:lstStyle/>
          <a:p>
            <a:pPr algn="l">
              <a:lnSpc>
                <a:spcPts val="2160"/>
              </a:lnSpc>
            </a:pPr>
            <a:r>
              <a:rPr lang="en-US" sz="1800" b="true">
                <a:solidFill>
                  <a:srgbClr val="64748B"/>
                </a:solidFill>
                <a:latin typeface="Arimo Bold"/>
                <a:ea typeface="Arimo Bold"/>
                <a:cs typeface="Arimo Bold"/>
                <a:sym typeface="Arimo Bold"/>
              </a:rPr>
              <a:t>GridSearch optimization combined with chronological split validation</a:t>
            </a:r>
          </a:p>
        </p:txBody>
      </p:sp>
      <p:sp>
        <p:nvSpPr>
          <p:cNvPr name="TextBox 14" id="14"/>
          <p:cNvSpPr txBox="true"/>
          <p:nvPr/>
        </p:nvSpPr>
        <p:spPr>
          <a:xfrm rot="0">
            <a:off x="1500746" y="3312243"/>
            <a:ext cx="1300460" cy="314325"/>
          </a:xfrm>
          <a:prstGeom prst="rect">
            <a:avLst/>
          </a:prstGeom>
        </p:spPr>
        <p:txBody>
          <a:bodyPr anchor="t" rtlCol="false" tIns="0" lIns="0" bIns="0" rIns="0">
            <a:spAutoFit/>
          </a:bodyPr>
          <a:lstStyle/>
          <a:p>
            <a:pPr algn="l">
              <a:lnSpc>
                <a:spcPts val="2430"/>
              </a:lnSpc>
            </a:pPr>
            <a:r>
              <a:rPr lang="en-US" b="true" sz="2025">
                <a:solidFill>
                  <a:srgbClr val="0D0D0E"/>
                </a:solidFill>
                <a:latin typeface="Arimo Bold"/>
                <a:ea typeface="Arimo Bold"/>
                <a:cs typeface="Arimo Bold"/>
                <a:sym typeface="Arimo Bold"/>
              </a:rPr>
              <a:t>Validation </a:t>
            </a:r>
          </a:p>
        </p:txBody>
      </p:sp>
      <p:sp>
        <p:nvSpPr>
          <p:cNvPr name="TextBox 15" id="15"/>
          <p:cNvSpPr txBox="true"/>
          <p:nvPr/>
        </p:nvSpPr>
        <p:spPr>
          <a:xfrm rot="0">
            <a:off x="1500746" y="3778968"/>
            <a:ext cx="4572000" cy="945451"/>
          </a:xfrm>
          <a:prstGeom prst="rect">
            <a:avLst/>
          </a:prstGeom>
        </p:spPr>
        <p:txBody>
          <a:bodyPr anchor="t" rtlCol="false" tIns="0" lIns="0" bIns="0" rIns="0">
            <a:spAutoFit/>
          </a:bodyPr>
          <a:lstStyle/>
          <a:p>
            <a:pPr algn="l">
              <a:lnSpc>
                <a:spcPts val="2530"/>
              </a:lnSpc>
            </a:pPr>
            <a:r>
              <a:rPr lang="en-US" b="true" sz="1687">
                <a:solidFill>
                  <a:srgbClr val="0D0D0E"/>
                </a:solidFill>
                <a:latin typeface="Arimo Bold"/>
                <a:ea typeface="Arimo Bold"/>
                <a:cs typeface="Arimo Bold"/>
                <a:sym typeface="Arimo Bold"/>
              </a:rPr>
              <a:t>5-Fold TimeSeriesSplit ensures future data is never used to predict historical observations.</a:t>
            </a:r>
          </a:p>
        </p:txBody>
      </p:sp>
      <p:sp>
        <p:nvSpPr>
          <p:cNvPr name="TextBox 16" id="16"/>
          <p:cNvSpPr txBox="true"/>
          <p:nvPr/>
        </p:nvSpPr>
        <p:spPr>
          <a:xfrm rot="0">
            <a:off x="7207831" y="3778968"/>
            <a:ext cx="4572000" cy="945451"/>
          </a:xfrm>
          <a:prstGeom prst="rect">
            <a:avLst/>
          </a:prstGeom>
        </p:spPr>
        <p:txBody>
          <a:bodyPr anchor="t" rtlCol="false" tIns="0" lIns="0" bIns="0" rIns="0">
            <a:spAutoFit/>
          </a:bodyPr>
          <a:lstStyle/>
          <a:p>
            <a:pPr algn="l">
              <a:lnSpc>
                <a:spcPts val="2530"/>
              </a:lnSpc>
            </a:pPr>
            <a:r>
              <a:rPr lang="en-US" b="true" sz="1687">
                <a:solidFill>
                  <a:srgbClr val="0D0D0E"/>
                </a:solidFill>
                <a:latin typeface="Arimo Bold"/>
                <a:ea typeface="Arimo Bold"/>
                <a:cs typeface="Arimo Bold"/>
                <a:sym typeface="Arimo Bold"/>
              </a:rPr>
              <a:t>Tested max_depth [15, 20, None], n_estimators [100, 200], and min_samples_split [2, 5].</a:t>
            </a:r>
          </a:p>
        </p:txBody>
      </p:sp>
      <p:sp>
        <p:nvSpPr>
          <p:cNvPr name="TextBox 17" id="17"/>
          <p:cNvSpPr txBox="true"/>
          <p:nvPr/>
        </p:nvSpPr>
        <p:spPr>
          <a:xfrm rot="0">
            <a:off x="12795836" y="3288430"/>
            <a:ext cx="5757862" cy="338137"/>
          </a:xfrm>
          <a:prstGeom prst="rect">
            <a:avLst/>
          </a:prstGeom>
        </p:spPr>
        <p:txBody>
          <a:bodyPr anchor="t" rtlCol="false" tIns="0" lIns="0" bIns="0" rIns="0">
            <a:spAutoFit/>
          </a:bodyPr>
          <a:lstStyle/>
          <a:p>
            <a:pPr algn="l">
              <a:lnSpc>
                <a:spcPts val="2527"/>
              </a:lnSpc>
            </a:pPr>
            <a:r>
              <a:rPr lang="en-US" b="true" sz="2106">
                <a:solidFill>
                  <a:srgbClr val="0D0D0E"/>
                </a:solidFill>
                <a:latin typeface="Arimo Bold"/>
                <a:ea typeface="Arimo Bold"/>
                <a:cs typeface="Arimo Bold"/>
                <a:sym typeface="Arimo Bold"/>
              </a:rPr>
              <a:t>Best Parameters</a:t>
            </a:r>
          </a:p>
        </p:txBody>
      </p:sp>
      <p:sp>
        <p:nvSpPr>
          <p:cNvPr name="TextBox 18" id="18"/>
          <p:cNvSpPr txBox="true"/>
          <p:nvPr/>
        </p:nvSpPr>
        <p:spPr>
          <a:xfrm rot="0">
            <a:off x="12687300" y="3826593"/>
            <a:ext cx="4572000" cy="819150"/>
          </a:xfrm>
          <a:prstGeom prst="rect">
            <a:avLst/>
          </a:prstGeom>
        </p:spPr>
        <p:txBody>
          <a:bodyPr anchor="t" rtlCol="false" tIns="0" lIns="0" bIns="0" rIns="0">
            <a:spAutoFit/>
          </a:bodyPr>
          <a:lstStyle/>
          <a:p>
            <a:pPr algn="l">
              <a:lnSpc>
                <a:spcPts val="2160"/>
              </a:lnSpc>
            </a:pPr>
            <a:r>
              <a:rPr lang="en-US" b="true" sz="1800">
                <a:solidFill>
                  <a:srgbClr val="0D0D0E"/>
                </a:solidFill>
                <a:latin typeface="Arimo Bold"/>
                <a:ea typeface="Arimo Bold"/>
                <a:cs typeface="Arimo Bold"/>
                <a:sym typeface="Arimo Bold"/>
              </a:rPr>
              <a:t>n_estimators: 200</a:t>
            </a:r>
          </a:p>
          <a:p>
            <a:pPr algn="l">
              <a:lnSpc>
                <a:spcPts val="2160"/>
              </a:lnSpc>
            </a:pPr>
            <a:r>
              <a:rPr lang="en-US" b="true" sz="1800">
                <a:solidFill>
                  <a:srgbClr val="0D0D0E"/>
                </a:solidFill>
                <a:latin typeface="Arimo Bold"/>
                <a:ea typeface="Arimo Bold"/>
                <a:cs typeface="Arimo Bold"/>
                <a:sym typeface="Arimo Bold"/>
              </a:rPr>
              <a:t>max_depth: 20</a:t>
            </a:r>
          </a:p>
          <a:p>
            <a:pPr algn="l">
              <a:lnSpc>
                <a:spcPts val="2160"/>
              </a:lnSpc>
            </a:pPr>
            <a:r>
              <a:rPr lang="en-US" b="true" sz="1800">
                <a:solidFill>
                  <a:srgbClr val="0D0D0E"/>
                </a:solidFill>
                <a:latin typeface="Arimo Bold"/>
                <a:ea typeface="Arimo Bold"/>
                <a:cs typeface="Arimo Bold"/>
                <a:sym typeface="Arimo Bold"/>
              </a:rPr>
              <a:t>min_samples_split: 2</a:t>
            </a:r>
          </a:p>
        </p:txBody>
      </p:sp>
      <p:sp>
        <p:nvSpPr>
          <p:cNvPr name="TextBox 19" id="19"/>
          <p:cNvSpPr txBox="true"/>
          <p:nvPr/>
        </p:nvSpPr>
        <p:spPr>
          <a:xfrm rot="0">
            <a:off x="1318864" y="5784747"/>
            <a:ext cx="12628874" cy="1298575"/>
          </a:xfrm>
          <a:prstGeom prst="rect">
            <a:avLst/>
          </a:prstGeom>
        </p:spPr>
        <p:txBody>
          <a:bodyPr anchor="t" rtlCol="false" tIns="0" lIns="0" bIns="0" rIns="0">
            <a:spAutoFit/>
          </a:bodyPr>
          <a:lstStyle/>
          <a:p>
            <a:pPr algn="l">
              <a:lnSpc>
                <a:spcPts val="3499"/>
              </a:lnSpc>
              <a:spcBef>
                <a:spcPct val="0"/>
              </a:spcBef>
            </a:pPr>
            <a:r>
              <a:rPr lang="en-US" b="true" sz="2499" u="sng">
                <a:solidFill>
                  <a:srgbClr val="000000"/>
                </a:solidFill>
                <a:latin typeface="Canva Sans Bold"/>
                <a:ea typeface="Canva Sans Bold"/>
                <a:cs typeface="Canva Sans Bold"/>
                <a:sym typeface="Canva Sans Bold"/>
              </a:rPr>
              <a:t>Hyperparameter tuning</a:t>
            </a:r>
            <a:r>
              <a:rPr lang="en-US" b="true" sz="2499">
                <a:solidFill>
                  <a:srgbClr val="000000"/>
                </a:solidFill>
                <a:latin typeface="Canva Sans Bold"/>
                <a:ea typeface="Canva Sans Bold"/>
                <a:cs typeface="Canva Sans Bold"/>
                <a:sym typeface="Canva Sans Bold"/>
              </a:rPr>
              <a:t> is the process of finding the optimal set of configuration settings (called hyperparameters) for a machine learning model to maximize its predictive performance and prevent underfitting or overfitting.</a:t>
            </a:r>
          </a:p>
        </p:txBody>
      </p:sp>
      <p:sp>
        <p:nvSpPr>
          <p:cNvPr name="TextBox 20" id="20"/>
          <p:cNvSpPr txBox="true"/>
          <p:nvPr/>
        </p:nvSpPr>
        <p:spPr>
          <a:xfrm rot="0">
            <a:off x="-750518" y="7569097"/>
            <a:ext cx="8695551" cy="448311"/>
          </a:xfrm>
          <a:prstGeom prst="rect">
            <a:avLst/>
          </a:prstGeom>
        </p:spPr>
        <p:txBody>
          <a:bodyPr anchor="t" rtlCol="false" tIns="0" lIns="0" bIns="0" rIns="0">
            <a:spAutoFit/>
          </a:bodyPr>
          <a:lstStyle/>
          <a:p>
            <a:pPr algn="ctr">
              <a:lnSpc>
                <a:spcPts val="3639"/>
              </a:lnSpc>
              <a:spcBef>
                <a:spcPct val="0"/>
              </a:spcBef>
            </a:pPr>
            <a:r>
              <a:rPr lang="en-US" b="true" sz="2599" u="sng">
                <a:solidFill>
                  <a:srgbClr val="000000"/>
                </a:solidFill>
                <a:latin typeface="Canva Sans Bold"/>
                <a:ea typeface="Canva Sans Bold"/>
                <a:cs typeface="Canva Sans Bold"/>
                <a:sym typeface="Canva Sans Bold"/>
              </a:rPr>
              <a:t>Grid Search (GridSearchCV)</a:t>
            </a:r>
          </a:p>
        </p:txBody>
      </p:sp>
      <p:sp>
        <p:nvSpPr>
          <p:cNvPr name="TextBox 21" id="21"/>
          <p:cNvSpPr txBox="true"/>
          <p:nvPr/>
        </p:nvSpPr>
        <p:spPr>
          <a:xfrm rot="0">
            <a:off x="1552169" y="8198383"/>
            <a:ext cx="13422511" cy="396240"/>
          </a:xfrm>
          <a:prstGeom prst="rect">
            <a:avLst/>
          </a:prstGeom>
        </p:spPr>
        <p:txBody>
          <a:bodyPr anchor="t" rtlCol="false" tIns="0" lIns="0" bIns="0" rIns="0">
            <a:spAutoFit/>
          </a:bodyPr>
          <a:lstStyle/>
          <a:p>
            <a:pPr algn="ctr">
              <a:lnSpc>
                <a:spcPts val="3359"/>
              </a:lnSpc>
              <a:spcBef>
                <a:spcPct val="0"/>
              </a:spcBef>
            </a:pPr>
            <a:r>
              <a:rPr lang="en-US" b="true" sz="2399">
                <a:solidFill>
                  <a:srgbClr val="000000"/>
                </a:solidFill>
                <a:latin typeface="Canva Sans Bold"/>
                <a:ea typeface="Canva Sans Bold"/>
                <a:cs typeface="Canva Sans Bold"/>
                <a:sym typeface="Canva Sans Bold"/>
              </a:rPr>
              <a:t>Tests every single possible combination of hyperparameters provided in a predefined grid.</a:t>
            </a:r>
          </a:p>
        </p:txBody>
      </p:sp>
    </p:spTree>
  </p:cSld>
  <p:clrMapOvr>
    <a:masterClrMapping/>
  </p:clrMapOvr>
  <p:transition spd="slow">
    <p:push dir="l"/>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24076" y="353306"/>
            <a:ext cx="17639848" cy="9580389"/>
            <a:chOff x="0" y="0"/>
            <a:chExt cx="4645886" cy="2523230"/>
          </a:xfrm>
        </p:grpSpPr>
        <p:sp>
          <p:nvSpPr>
            <p:cNvPr name="Freeform 3" id="3"/>
            <p:cNvSpPr/>
            <p:nvPr/>
          </p:nvSpPr>
          <p:spPr>
            <a:xfrm flipH="false" flipV="false" rot="0">
              <a:off x="0" y="0"/>
              <a:ext cx="4645886" cy="2523230"/>
            </a:xfrm>
            <a:custGeom>
              <a:avLst/>
              <a:gdLst/>
              <a:ahLst/>
              <a:cxnLst/>
              <a:rect r="r" b="b" t="t" l="l"/>
              <a:pathLst>
                <a:path h="2523230" w="4645886">
                  <a:moveTo>
                    <a:pt x="22383" y="0"/>
                  </a:moveTo>
                  <a:lnTo>
                    <a:pt x="4623503" y="0"/>
                  </a:lnTo>
                  <a:cubicBezTo>
                    <a:pt x="4629439" y="0"/>
                    <a:pt x="4635132" y="2358"/>
                    <a:pt x="4639330" y="6556"/>
                  </a:cubicBezTo>
                  <a:cubicBezTo>
                    <a:pt x="4643527" y="10754"/>
                    <a:pt x="4645886" y="16447"/>
                    <a:pt x="4645886" y="22383"/>
                  </a:cubicBezTo>
                  <a:lnTo>
                    <a:pt x="4645886" y="2500847"/>
                  </a:lnTo>
                  <a:cubicBezTo>
                    <a:pt x="4645886" y="2506783"/>
                    <a:pt x="4643527" y="2512476"/>
                    <a:pt x="4639330" y="2516674"/>
                  </a:cubicBezTo>
                  <a:cubicBezTo>
                    <a:pt x="4635132" y="2520872"/>
                    <a:pt x="4629439" y="2523230"/>
                    <a:pt x="4623503" y="2523230"/>
                  </a:cubicBezTo>
                  <a:lnTo>
                    <a:pt x="22383" y="2523230"/>
                  </a:lnTo>
                  <a:cubicBezTo>
                    <a:pt x="16447" y="2523230"/>
                    <a:pt x="10754" y="2520872"/>
                    <a:pt x="6556" y="2516674"/>
                  </a:cubicBezTo>
                  <a:cubicBezTo>
                    <a:pt x="2358" y="2512476"/>
                    <a:pt x="0" y="2506783"/>
                    <a:pt x="0" y="2500847"/>
                  </a:cubicBezTo>
                  <a:lnTo>
                    <a:pt x="0" y="22383"/>
                  </a:lnTo>
                  <a:cubicBezTo>
                    <a:pt x="0" y="16447"/>
                    <a:pt x="2358" y="10754"/>
                    <a:pt x="6556" y="6556"/>
                  </a:cubicBezTo>
                  <a:cubicBezTo>
                    <a:pt x="10754" y="2358"/>
                    <a:pt x="16447" y="0"/>
                    <a:pt x="22383" y="0"/>
                  </a:cubicBezTo>
                  <a:close/>
                </a:path>
              </a:pathLst>
            </a:custGeom>
            <a:solidFill>
              <a:srgbClr val="EEF4FA"/>
            </a:solidFill>
          </p:spPr>
        </p:sp>
        <p:sp>
          <p:nvSpPr>
            <p:cNvPr name="TextBox 4" id="4"/>
            <p:cNvSpPr txBox="true"/>
            <p:nvPr/>
          </p:nvSpPr>
          <p:spPr>
            <a:xfrm>
              <a:off x="0" y="-38100"/>
              <a:ext cx="4645886" cy="2561330"/>
            </a:xfrm>
            <a:prstGeom prst="rect">
              <a:avLst/>
            </a:prstGeom>
          </p:spPr>
          <p:txBody>
            <a:bodyPr anchor="ctr" rtlCol="false" tIns="50800" lIns="50800" bIns="50800" rIns="50800"/>
            <a:lstStyle/>
            <a:p>
              <a:pPr algn="ctr">
                <a:lnSpc>
                  <a:spcPts val="2659"/>
                </a:lnSpc>
              </a:pPr>
            </a:p>
            <a:p>
              <a:pPr algn="ctr" marL="0" indent="0" lvl="0">
                <a:lnSpc>
                  <a:spcPts val="2659"/>
                </a:lnSpc>
                <a:spcBef>
                  <a:spcPct val="0"/>
                </a:spcBef>
              </a:pPr>
            </a:p>
            <a:p>
              <a:pPr algn="ctr" marL="0" indent="0" lvl="0">
                <a:lnSpc>
                  <a:spcPts val="2659"/>
                </a:lnSpc>
                <a:spcBef>
                  <a:spcPct val="0"/>
                </a:spcBef>
              </a:pPr>
            </a:p>
          </p:txBody>
        </p:sp>
      </p:grpSp>
      <p:sp>
        <p:nvSpPr>
          <p:cNvPr name="Freeform 5" id="5"/>
          <p:cNvSpPr/>
          <p:nvPr/>
        </p:nvSpPr>
        <p:spPr>
          <a:xfrm flipH="false" flipV="false" rot="0">
            <a:off x="1028700" y="3166344"/>
            <a:ext cx="16230600" cy="3423642"/>
          </a:xfrm>
          <a:custGeom>
            <a:avLst/>
            <a:gdLst/>
            <a:ahLst/>
            <a:cxnLst/>
            <a:rect r="r" b="b" t="t" l="l"/>
            <a:pathLst>
              <a:path h="3423642" w="16230600">
                <a:moveTo>
                  <a:pt x="0" y="0"/>
                </a:moveTo>
                <a:lnTo>
                  <a:pt x="16230600" y="0"/>
                </a:lnTo>
                <a:lnTo>
                  <a:pt x="16230600" y="3423643"/>
                </a:lnTo>
                <a:lnTo>
                  <a:pt x="0" y="3423643"/>
                </a:lnTo>
                <a:lnTo>
                  <a:pt x="0" y="0"/>
                </a:lnTo>
                <a:close/>
              </a:path>
            </a:pathLst>
          </a:custGeom>
          <a:blipFill>
            <a:blip r:embed="rId2"/>
            <a:stretch>
              <a:fillRect l="0" t="0" r="0" b="0"/>
            </a:stretch>
          </a:blipFill>
        </p:spPr>
      </p:sp>
      <p:sp>
        <p:nvSpPr>
          <p:cNvPr name="TextBox 6" id="6"/>
          <p:cNvSpPr txBox="true"/>
          <p:nvPr/>
        </p:nvSpPr>
        <p:spPr>
          <a:xfrm rot="0">
            <a:off x="815736" y="1074556"/>
            <a:ext cx="15014848" cy="730377"/>
          </a:xfrm>
          <a:prstGeom prst="rect">
            <a:avLst/>
          </a:prstGeom>
        </p:spPr>
        <p:txBody>
          <a:bodyPr anchor="t" rtlCol="false" tIns="0" lIns="0" bIns="0" rIns="0">
            <a:spAutoFit/>
          </a:bodyPr>
          <a:lstStyle/>
          <a:p>
            <a:pPr algn="l" marL="0" indent="0" lvl="0">
              <a:lnSpc>
                <a:spcPts val="5544"/>
              </a:lnSpc>
            </a:pPr>
            <a:r>
              <a:rPr lang="en-US" b="true" sz="5600">
                <a:solidFill>
                  <a:srgbClr val="0F172A"/>
                </a:solidFill>
                <a:latin typeface="DM Sans Bold"/>
                <a:ea typeface="DM Sans Bold"/>
                <a:cs typeface="DM Sans Bold"/>
                <a:sym typeface="DM Sans Bold"/>
              </a:rPr>
              <a:t>Evaluation Metrics   </a:t>
            </a:r>
          </a:p>
        </p:txBody>
      </p:sp>
      <p:sp>
        <p:nvSpPr>
          <p:cNvPr name="TextBox 7" id="7"/>
          <p:cNvSpPr txBox="true"/>
          <p:nvPr/>
        </p:nvSpPr>
        <p:spPr>
          <a:xfrm rot="0">
            <a:off x="907256" y="2008168"/>
            <a:ext cx="17373600" cy="285750"/>
          </a:xfrm>
          <a:prstGeom prst="rect">
            <a:avLst/>
          </a:prstGeom>
        </p:spPr>
        <p:txBody>
          <a:bodyPr anchor="t" rtlCol="false" tIns="0" lIns="0" bIns="0" rIns="0">
            <a:spAutoFit/>
          </a:bodyPr>
          <a:lstStyle/>
          <a:p>
            <a:pPr algn="l">
              <a:lnSpc>
                <a:spcPts val="2160"/>
              </a:lnSpc>
            </a:pPr>
            <a:r>
              <a:rPr lang="en-US" sz="1800" b="true">
                <a:solidFill>
                  <a:srgbClr val="64748B"/>
                </a:solidFill>
                <a:latin typeface="Arimo Bold"/>
                <a:ea typeface="Arimo Bold"/>
                <a:cs typeface="Arimo Bold"/>
                <a:sym typeface="Arimo Bold"/>
              </a:rPr>
              <a:t>Comprehensive test set performance evaluation using regression metrics.</a:t>
            </a:r>
          </a:p>
        </p:txBody>
      </p:sp>
      <p:sp>
        <p:nvSpPr>
          <p:cNvPr name="TextBox 8" id="8"/>
          <p:cNvSpPr txBox="true"/>
          <p:nvPr/>
        </p:nvSpPr>
        <p:spPr>
          <a:xfrm rot="0">
            <a:off x="1028700" y="7141030"/>
            <a:ext cx="14844712" cy="1657350"/>
          </a:xfrm>
          <a:prstGeom prst="rect">
            <a:avLst/>
          </a:prstGeom>
        </p:spPr>
        <p:txBody>
          <a:bodyPr anchor="t" rtlCol="false" tIns="0" lIns="0" bIns="0" rIns="0">
            <a:spAutoFit/>
          </a:bodyPr>
          <a:lstStyle/>
          <a:p>
            <a:pPr algn="l" marL="582925" indent="-291463" lvl="1">
              <a:lnSpc>
                <a:spcPts val="3239"/>
              </a:lnSpc>
              <a:buFont typeface="Arial"/>
              <a:buChar char="•"/>
            </a:pPr>
            <a:r>
              <a:rPr lang="en-US" b="true" sz="2699">
                <a:solidFill>
                  <a:srgbClr val="000000"/>
                </a:solidFill>
                <a:latin typeface="Arimo Bold"/>
                <a:ea typeface="Arimo Bold"/>
                <a:cs typeface="Arimo Bold"/>
                <a:sym typeface="Arimo Bold"/>
              </a:rPr>
              <a:t>R² Score (0.9440): 94.4% of total demand variance.</a:t>
            </a:r>
          </a:p>
          <a:p>
            <a:pPr algn="l" marL="582925" indent="-291463" lvl="1">
              <a:lnSpc>
                <a:spcPts val="3239"/>
              </a:lnSpc>
              <a:buFont typeface="Arial"/>
              <a:buChar char="•"/>
            </a:pPr>
            <a:r>
              <a:rPr lang="en-US" b="true" sz="2699">
                <a:solidFill>
                  <a:srgbClr val="000000"/>
                </a:solidFill>
                <a:latin typeface="Arimo Bold"/>
                <a:ea typeface="Arimo Bold"/>
                <a:cs typeface="Arimo Bold"/>
                <a:sym typeface="Arimo Bold"/>
              </a:rPr>
              <a:t>RMSE (42.10): Average prediction error of ~42 bikes/hour.</a:t>
            </a:r>
          </a:p>
          <a:p>
            <a:pPr algn="l" marL="582925" indent="-291463" lvl="1">
              <a:lnSpc>
                <a:spcPts val="3239"/>
              </a:lnSpc>
              <a:buFont typeface="Arial"/>
              <a:buChar char="•"/>
            </a:pPr>
            <a:r>
              <a:rPr lang="en-US" b="true" sz="2699">
                <a:solidFill>
                  <a:srgbClr val="000000"/>
                </a:solidFill>
                <a:latin typeface="Arimo Bold"/>
                <a:ea typeface="Arimo Bold"/>
                <a:cs typeface="Arimo Bold"/>
                <a:sym typeface="Arimo Bold"/>
              </a:rPr>
              <a:t>MAPE (27.06%): 27% relative error across all hours.</a:t>
            </a:r>
          </a:p>
          <a:p>
            <a:pPr algn="l" marL="582925" indent="-291463" lvl="1">
              <a:lnSpc>
                <a:spcPts val="3239"/>
              </a:lnSpc>
              <a:buFont typeface="Arial"/>
              <a:buChar char="•"/>
            </a:pPr>
            <a:r>
              <a:rPr lang="en-US" b="true" sz="2699">
                <a:solidFill>
                  <a:srgbClr val="000000"/>
                </a:solidFill>
                <a:latin typeface="Arimo Bold"/>
                <a:ea typeface="Arimo Bold"/>
                <a:cs typeface="Arimo Bold"/>
                <a:sym typeface="Arimo Bold"/>
              </a:rPr>
              <a:t>Peak Error (54.02): Controlled error of ~54 bikes/hour during top 10% rush-hour surges.</a:t>
            </a:r>
          </a:p>
        </p:txBody>
      </p:sp>
    </p:spTree>
  </p:cSld>
  <p:clrMapOvr>
    <a:masterClrMapping/>
  </p:clrMapOvr>
  <p:transition spd="slow">
    <p:push dir="l"/>
  </p:transition>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24076" y="353306"/>
            <a:ext cx="17639848" cy="9580389"/>
            <a:chOff x="0" y="0"/>
            <a:chExt cx="4645886" cy="2523230"/>
          </a:xfrm>
        </p:grpSpPr>
        <p:sp>
          <p:nvSpPr>
            <p:cNvPr name="Freeform 3" id="3"/>
            <p:cNvSpPr/>
            <p:nvPr/>
          </p:nvSpPr>
          <p:spPr>
            <a:xfrm flipH="false" flipV="false" rot="0">
              <a:off x="0" y="0"/>
              <a:ext cx="4645886" cy="2523230"/>
            </a:xfrm>
            <a:custGeom>
              <a:avLst/>
              <a:gdLst/>
              <a:ahLst/>
              <a:cxnLst/>
              <a:rect r="r" b="b" t="t" l="l"/>
              <a:pathLst>
                <a:path h="2523230" w="4645886">
                  <a:moveTo>
                    <a:pt x="22383" y="0"/>
                  </a:moveTo>
                  <a:lnTo>
                    <a:pt x="4623503" y="0"/>
                  </a:lnTo>
                  <a:cubicBezTo>
                    <a:pt x="4629439" y="0"/>
                    <a:pt x="4635132" y="2358"/>
                    <a:pt x="4639330" y="6556"/>
                  </a:cubicBezTo>
                  <a:cubicBezTo>
                    <a:pt x="4643527" y="10754"/>
                    <a:pt x="4645886" y="16447"/>
                    <a:pt x="4645886" y="22383"/>
                  </a:cubicBezTo>
                  <a:lnTo>
                    <a:pt x="4645886" y="2500847"/>
                  </a:lnTo>
                  <a:cubicBezTo>
                    <a:pt x="4645886" y="2506783"/>
                    <a:pt x="4643527" y="2512476"/>
                    <a:pt x="4639330" y="2516674"/>
                  </a:cubicBezTo>
                  <a:cubicBezTo>
                    <a:pt x="4635132" y="2520872"/>
                    <a:pt x="4629439" y="2523230"/>
                    <a:pt x="4623503" y="2523230"/>
                  </a:cubicBezTo>
                  <a:lnTo>
                    <a:pt x="22383" y="2523230"/>
                  </a:lnTo>
                  <a:cubicBezTo>
                    <a:pt x="16447" y="2523230"/>
                    <a:pt x="10754" y="2520872"/>
                    <a:pt x="6556" y="2516674"/>
                  </a:cubicBezTo>
                  <a:cubicBezTo>
                    <a:pt x="2358" y="2512476"/>
                    <a:pt x="0" y="2506783"/>
                    <a:pt x="0" y="2500847"/>
                  </a:cubicBezTo>
                  <a:lnTo>
                    <a:pt x="0" y="22383"/>
                  </a:lnTo>
                  <a:cubicBezTo>
                    <a:pt x="0" y="16447"/>
                    <a:pt x="2358" y="10754"/>
                    <a:pt x="6556" y="6556"/>
                  </a:cubicBezTo>
                  <a:cubicBezTo>
                    <a:pt x="10754" y="2358"/>
                    <a:pt x="16447" y="0"/>
                    <a:pt x="22383" y="0"/>
                  </a:cubicBezTo>
                  <a:close/>
                </a:path>
              </a:pathLst>
            </a:custGeom>
            <a:solidFill>
              <a:srgbClr val="EEF4FA"/>
            </a:solidFill>
          </p:spPr>
        </p:sp>
        <p:sp>
          <p:nvSpPr>
            <p:cNvPr name="TextBox 4" id="4"/>
            <p:cNvSpPr txBox="true"/>
            <p:nvPr/>
          </p:nvSpPr>
          <p:spPr>
            <a:xfrm>
              <a:off x="0" y="-38100"/>
              <a:ext cx="4645886" cy="2561330"/>
            </a:xfrm>
            <a:prstGeom prst="rect">
              <a:avLst/>
            </a:prstGeom>
          </p:spPr>
          <p:txBody>
            <a:bodyPr anchor="ctr" rtlCol="false" tIns="50800" lIns="50800" bIns="50800" rIns="50800"/>
            <a:lstStyle/>
            <a:p>
              <a:pPr algn="ctr">
                <a:lnSpc>
                  <a:spcPts val="2659"/>
                </a:lnSpc>
              </a:pPr>
            </a:p>
            <a:p>
              <a:pPr algn="ctr" marL="0" indent="0" lvl="0">
                <a:lnSpc>
                  <a:spcPts val="2659"/>
                </a:lnSpc>
                <a:spcBef>
                  <a:spcPct val="0"/>
                </a:spcBef>
              </a:pPr>
            </a:p>
          </p:txBody>
        </p:sp>
      </p:grpSp>
      <p:sp>
        <p:nvSpPr>
          <p:cNvPr name="TextBox 5" id="5"/>
          <p:cNvSpPr txBox="true"/>
          <p:nvPr/>
        </p:nvSpPr>
        <p:spPr>
          <a:xfrm rot="0">
            <a:off x="815736" y="1074556"/>
            <a:ext cx="15014848" cy="730377"/>
          </a:xfrm>
          <a:prstGeom prst="rect">
            <a:avLst/>
          </a:prstGeom>
        </p:spPr>
        <p:txBody>
          <a:bodyPr anchor="t" rtlCol="false" tIns="0" lIns="0" bIns="0" rIns="0">
            <a:spAutoFit/>
          </a:bodyPr>
          <a:lstStyle/>
          <a:p>
            <a:pPr algn="l" marL="0" indent="0" lvl="0">
              <a:lnSpc>
                <a:spcPts val="5544"/>
              </a:lnSpc>
            </a:pPr>
            <a:r>
              <a:rPr lang="en-US" b="true" sz="5600">
                <a:solidFill>
                  <a:srgbClr val="0F172A"/>
                </a:solidFill>
                <a:latin typeface="DM Sans Bold"/>
                <a:ea typeface="DM Sans Bold"/>
                <a:cs typeface="DM Sans Bold"/>
                <a:sym typeface="DM Sans Bold"/>
              </a:rPr>
              <a:t>Actual vs Predicted   </a:t>
            </a:r>
          </a:p>
        </p:txBody>
      </p:sp>
      <p:sp>
        <p:nvSpPr>
          <p:cNvPr name="TextBox 6" id="6"/>
          <p:cNvSpPr txBox="true"/>
          <p:nvPr/>
        </p:nvSpPr>
        <p:spPr>
          <a:xfrm rot="0">
            <a:off x="907256" y="2008168"/>
            <a:ext cx="17373600" cy="285750"/>
          </a:xfrm>
          <a:prstGeom prst="rect">
            <a:avLst/>
          </a:prstGeom>
        </p:spPr>
        <p:txBody>
          <a:bodyPr anchor="t" rtlCol="false" tIns="0" lIns="0" bIns="0" rIns="0">
            <a:spAutoFit/>
          </a:bodyPr>
          <a:lstStyle/>
          <a:p>
            <a:pPr algn="l">
              <a:lnSpc>
                <a:spcPts val="2160"/>
              </a:lnSpc>
            </a:pPr>
            <a:r>
              <a:rPr lang="en-US" sz="1800" b="true">
                <a:solidFill>
                  <a:srgbClr val="64748B"/>
                </a:solidFill>
                <a:latin typeface="Arimo Bold"/>
                <a:ea typeface="Arimo Bold"/>
                <a:cs typeface="Arimo Bold"/>
                <a:sym typeface="Arimo Bold"/>
              </a:rPr>
              <a:t>Test set sample comparison (300 hours) and symmetrical prediction error distribution</a:t>
            </a:r>
          </a:p>
        </p:txBody>
      </p:sp>
      <p:sp>
        <p:nvSpPr>
          <p:cNvPr name="TextBox 7" id="7"/>
          <p:cNvSpPr txBox="true"/>
          <p:nvPr/>
        </p:nvSpPr>
        <p:spPr>
          <a:xfrm rot="0">
            <a:off x="-2404882" y="2601193"/>
            <a:ext cx="15142872" cy="495345"/>
          </a:xfrm>
          <a:prstGeom prst="rect">
            <a:avLst/>
          </a:prstGeom>
        </p:spPr>
        <p:txBody>
          <a:bodyPr anchor="t" rtlCol="false" tIns="0" lIns="0" bIns="0" rIns="0">
            <a:spAutoFit/>
          </a:bodyPr>
          <a:lstStyle/>
          <a:p>
            <a:pPr algn="ctr">
              <a:lnSpc>
                <a:spcPts val="4197"/>
              </a:lnSpc>
              <a:spcBef>
                <a:spcPct val="0"/>
              </a:spcBef>
            </a:pPr>
            <a:r>
              <a:rPr lang="en-US" b="true" sz="2998" u="sng">
                <a:solidFill>
                  <a:srgbClr val="000000"/>
                </a:solidFill>
                <a:latin typeface="Inter Bold"/>
                <a:ea typeface="Inter Bold"/>
                <a:cs typeface="Inter Bold"/>
                <a:sym typeface="Inter Bold"/>
              </a:rPr>
              <a:t>Test Set Demand Sample (Actual vs Predicted)</a:t>
            </a:r>
          </a:p>
        </p:txBody>
      </p:sp>
      <p:sp>
        <p:nvSpPr>
          <p:cNvPr name="Freeform 8" id="8"/>
          <p:cNvSpPr/>
          <p:nvPr/>
        </p:nvSpPr>
        <p:spPr>
          <a:xfrm flipH="false" flipV="false" rot="0">
            <a:off x="2956080" y="3451439"/>
            <a:ext cx="11381964" cy="4218238"/>
          </a:xfrm>
          <a:custGeom>
            <a:avLst/>
            <a:gdLst/>
            <a:ahLst/>
            <a:cxnLst/>
            <a:rect r="r" b="b" t="t" l="l"/>
            <a:pathLst>
              <a:path h="4218238" w="11381964">
                <a:moveTo>
                  <a:pt x="0" y="0"/>
                </a:moveTo>
                <a:lnTo>
                  <a:pt x="11381964" y="0"/>
                </a:lnTo>
                <a:lnTo>
                  <a:pt x="11381964" y="4218238"/>
                </a:lnTo>
                <a:lnTo>
                  <a:pt x="0" y="4218238"/>
                </a:lnTo>
                <a:lnTo>
                  <a:pt x="0" y="0"/>
                </a:lnTo>
                <a:close/>
              </a:path>
            </a:pathLst>
          </a:custGeom>
          <a:blipFill>
            <a:blip r:embed="rId2"/>
            <a:stretch>
              <a:fillRect l="-2733" t="-917" r="-3044" b="-3420"/>
            </a:stretch>
          </a:blipFill>
        </p:spPr>
      </p:sp>
      <p:sp>
        <p:nvSpPr>
          <p:cNvPr name="TextBox 9" id="9"/>
          <p:cNvSpPr txBox="true"/>
          <p:nvPr/>
        </p:nvSpPr>
        <p:spPr>
          <a:xfrm rot="0">
            <a:off x="815736" y="7803027"/>
            <a:ext cx="16351761" cy="1071569"/>
          </a:xfrm>
          <a:prstGeom prst="rect">
            <a:avLst/>
          </a:prstGeom>
        </p:spPr>
        <p:txBody>
          <a:bodyPr anchor="t" rtlCol="false" tIns="0" lIns="0" bIns="0" rIns="0">
            <a:spAutoFit/>
          </a:bodyPr>
          <a:lstStyle/>
          <a:p>
            <a:pPr algn="l">
              <a:lnSpc>
                <a:spcPts val="2815"/>
              </a:lnSpc>
              <a:spcBef>
                <a:spcPct val="0"/>
              </a:spcBef>
            </a:pPr>
            <a:r>
              <a:rPr lang="en-US" sz="1877">
                <a:solidFill>
                  <a:srgbClr val="000000"/>
                </a:solidFill>
                <a:latin typeface="Arimo"/>
                <a:ea typeface="Arimo"/>
                <a:cs typeface="Arimo"/>
                <a:sym typeface="Arimo"/>
              </a:rPr>
              <a:t>This graph compares our model's forecasts (orange) directly against actual bike rentals (blue) across a 300-hour test sample. The predictions track ground truth with high precision and zero time lag, capturing peak commute surges over 800 bikes/hour as well as off-peak night troughs. This reliability allows logistics teams to pre-stage inventory with complete confidence before demand spikes hit.</a:t>
            </a:r>
          </a:p>
        </p:txBody>
      </p:sp>
    </p:spTree>
  </p:cSld>
  <p:clrMapOvr>
    <a:masterClrMapping/>
  </p:clrMapOvr>
  <p:transition spd="slow">
    <p:push dir="l"/>
  </p:transition>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87221"/>
            <a:ext cx="18477505" cy="10287000"/>
            <a:chOff x="0" y="0"/>
            <a:chExt cx="4866503" cy="2709333"/>
          </a:xfrm>
        </p:grpSpPr>
        <p:sp>
          <p:nvSpPr>
            <p:cNvPr name="Freeform 3" id="3"/>
            <p:cNvSpPr/>
            <p:nvPr/>
          </p:nvSpPr>
          <p:spPr>
            <a:xfrm flipH="false" flipV="false" rot="0">
              <a:off x="0" y="0"/>
              <a:ext cx="4866503" cy="2709333"/>
            </a:xfrm>
            <a:custGeom>
              <a:avLst/>
              <a:gdLst/>
              <a:ahLst/>
              <a:cxnLst/>
              <a:rect r="r" b="b" t="t" l="l"/>
              <a:pathLst>
                <a:path h="2709333" w="4866503">
                  <a:moveTo>
                    <a:pt x="21369" y="0"/>
                  </a:moveTo>
                  <a:lnTo>
                    <a:pt x="4845135" y="0"/>
                  </a:lnTo>
                  <a:cubicBezTo>
                    <a:pt x="4850802" y="0"/>
                    <a:pt x="4856237" y="2251"/>
                    <a:pt x="4860245" y="6259"/>
                  </a:cubicBezTo>
                  <a:cubicBezTo>
                    <a:pt x="4864252" y="10266"/>
                    <a:pt x="4866503" y="15701"/>
                    <a:pt x="4866503" y="21369"/>
                  </a:cubicBezTo>
                  <a:lnTo>
                    <a:pt x="4866503" y="2687965"/>
                  </a:lnTo>
                  <a:cubicBezTo>
                    <a:pt x="4866503" y="2693632"/>
                    <a:pt x="4864252" y="2699067"/>
                    <a:pt x="4860245" y="2703075"/>
                  </a:cubicBezTo>
                  <a:cubicBezTo>
                    <a:pt x="4856237" y="2707082"/>
                    <a:pt x="4850802" y="2709333"/>
                    <a:pt x="4845135" y="2709333"/>
                  </a:cubicBezTo>
                  <a:lnTo>
                    <a:pt x="21369" y="2709333"/>
                  </a:lnTo>
                  <a:cubicBezTo>
                    <a:pt x="15701" y="2709333"/>
                    <a:pt x="10266" y="2707082"/>
                    <a:pt x="6259" y="2703075"/>
                  </a:cubicBezTo>
                  <a:cubicBezTo>
                    <a:pt x="2251" y="2699067"/>
                    <a:pt x="0" y="2693632"/>
                    <a:pt x="0" y="2687965"/>
                  </a:cubicBezTo>
                  <a:lnTo>
                    <a:pt x="0" y="21369"/>
                  </a:lnTo>
                  <a:cubicBezTo>
                    <a:pt x="0" y="15701"/>
                    <a:pt x="2251" y="10266"/>
                    <a:pt x="6259" y="6259"/>
                  </a:cubicBezTo>
                  <a:cubicBezTo>
                    <a:pt x="10266" y="2251"/>
                    <a:pt x="15701" y="0"/>
                    <a:pt x="21369" y="0"/>
                  </a:cubicBezTo>
                  <a:close/>
                </a:path>
              </a:pathLst>
            </a:custGeom>
            <a:solidFill>
              <a:srgbClr val="EEF4FA"/>
            </a:solidFill>
          </p:spPr>
        </p:sp>
        <p:sp>
          <p:nvSpPr>
            <p:cNvPr name="TextBox 4" id="4"/>
            <p:cNvSpPr txBox="true"/>
            <p:nvPr/>
          </p:nvSpPr>
          <p:spPr>
            <a:xfrm>
              <a:off x="0" y="-38100"/>
              <a:ext cx="4866503" cy="274743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4703326" y="1633961"/>
            <a:ext cx="4171205" cy="4590218"/>
            <a:chOff x="0" y="0"/>
            <a:chExt cx="5561607" cy="6120291"/>
          </a:xfrm>
        </p:grpSpPr>
        <p:grpSp>
          <p:nvGrpSpPr>
            <p:cNvPr name="Group 6" id="6"/>
            <p:cNvGrpSpPr/>
            <p:nvPr/>
          </p:nvGrpSpPr>
          <p:grpSpPr>
            <a:xfrm rot="0">
              <a:off x="0" y="0"/>
              <a:ext cx="5561607" cy="6120291"/>
              <a:chOff x="0" y="0"/>
              <a:chExt cx="1046659" cy="1151800"/>
            </a:xfrm>
          </p:grpSpPr>
          <p:sp>
            <p:nvSpPr>
              <p:cNvPr name="Freeform 7" id="7"/>
              <p:cNvSpPr/>
              <p:nvPr/>
            </p:nvSpPr>
            <p:spPr>
              <a:xfrm flipH="false" flipV="false" rot="0">
                <a:off x="0" y="0"/>
                <a:ext cx="1046659" cy="1151800"/>
              </a:xfrm>
              <a:custGeom>
                <a:avLst/>
                <a:gdLst/>
                <a:ahLst/>
                <a:cxnLst/>
                <a:rect r="r" b="b" t="t" l="l"/>
                <a:pathLst>
                  <a:path h="1151800" w="1046659">
                    <a:moveTo>
                      <a:pt x="42182" y="0"/>
                    </a:moveTo>
                    <a:lnTo>
                      <a:pt x="1004477" y="0"/>
                    </a:lnTo>
                    <a:cubicBezTo>
                      <a:pt x="1015664" y="0"/>
                      <a:pt x="1026393" y="4444"/>
                      <a:pt x="1034304" y="12355"/>
                    </a:cubicBezTo>
                    <a:cubicBezTo>
                      <a:pt x="1042215" y="20266"/>
                      <a:pt x="1046659" y="30995"/>
                      <a:pt x="1046659" y="42182"/>
                    </a:cubicBezTo>
                    <a:lnTo>
                      <a:pt x="1046659" y="1109618"/>
                    </a:lnTo>
                    <a:cubicBezTo>
                      <a:pt x="1046659" y="1120805"/>
                      <a:pt x="1042215" y="1131534"/>
                      <a:pt x="1034304" y="1139445"/>
                    </a:cubicBezTo>
                    <a:cubicBezTo>
                      <a:pt x="1026393" y="1147355"/>
                      <a:pt x="1015664" y="1151800"/>
                      <a:pt x="1004477" y="1151800"/>
                    </a:cubicBezTo>
                    <a:lnTo>
                      <a:pt x="42182" y="1151800"/>
                    </a:lnTo>
                    <a:cubicBezTo>
                      <a:pt x="30995" y="1151800"/>
                      <a:pt x="20266" y="1147355"/>
                      <a:pt x="12355" y="1139445"/>
                    </a:cubicBezTo>
                    <a:cubicBezTo>
                      <a:pt x="4444" y="1131534"/>
                      <a:pt x="0" y="1120805"/>
                      <a:pt x="0" y="1109618"/>
                    </a:cubicBezTo>
                    <a:lnTo>
                      <a:pt x="0" y="42182"/>
                    </a:lnTo>
                    <a:cubicBezTo>
                      <a:pt x="0" y="30995"/>
                      <a:pt x="4444" y="20266"/>
                      <a:pt x="12355" y="12355"/>
                    </a:cubicBezTo>
                    <a:cubicBezTo>
                      <a:pt x="20266" y="4444"/>
                      <a:pt x="30995" y="0"/>
                      <a:pt x="42182" y="0"/>
                    </a:cubicBezTo>
                    <a:close/>
                  </a:path>
                </a:pathLst>
              </a:custGeom>
              <a:blipFill>
                <a:blip r:embed="rId2"/>
                <a:stretch>
                  <a:fillRect l="-5022" t="0" r="-5022" b="0"/>
                </a:stretch>
              </a:blipFill>
            </p:spPr>
          </p:sp>
        </p:grpSp>
        <p:sp>
          <p:nvSpPr>
            <p:cNvPr name="TextBox 8" id="8"/>
            <p:cNvSpPr txBox="true"/>
            <p:nvPr/>
          </p:nvSpPr>
          <p:spPr>
            <a:xfrm rot="0">
              <a:off x="768660" y="1468834"/>
              <a:ext cx="4024286" cy="4207922"/>
            </a:xfrm>
            <a:prstGeom prst="rect">
              <a:avLst/>
            </a:prstGeom>
          </p:spPr>
          <p:txBody>
            <a:bodyPr anchor="t" rtlCol="false" tIns="0" lIns="0" bIns="0" rIns="0">
              <a:spAutoFit/>
            </a:bodyPr>
            <a:lstStyle/>
            <a:p>
              <a:pPr algn="l" marL="0" indent="0" lvl="0">
                <a:lnSpc>
                  <a:spcPts val="2844"/>
                </a:lnSpc>
              </a:pPr>
              <a:r>
                <a:rPr lang="en-US" b="true" sz="2031">
                  <a:solidFill>
                    <a:srgbClr val="0D0D0E"/>
                  </a:solidFill>
                  <a:latin typeface="Inter Bold"/>
                  <a:ea typeface="Inter Bold"/>
                  <a:cs typeface="Inter Bold"/>
                  <a:sym typeface="Inter Bold"/>
                </a:rPr>
                <a:t>The pipeline accepts 12 raw inputs: season, year, month, hour, holiday, weekday, working day, weather situation, temperature, feels-like temperature, humidity and wind speed.</a:t>
              </a:r>
            </a:p>
          </p:txBody>
        </p:sp>
        <p:sp>
          <p:nvSpPr>
            <p:cNvPr name="TextBox 9" id="9"/>
            <p:cNvSpPr txBox="true"/>
            <p:nvPr/>
          </p:nvSpPr>
          <p:spPr>
            <a:xfrm rot="0">
              <a:off x="906886" y="533729"/>
              <a:ext cx="3630384" cy="537693"/>
            </a:xfrm>
            <a:prstGeom prst="rect">
              <a:avLst/>
            </a:prstGeom>
          </p:spPr>
          <p:txBody>
            <a:bodyPr anchor="t" rtlCol="false" tIns="0" lIns="0" bIns="0" rIns="0">
              <a:spAutoFit/>
            </a:bodyPr>
            <a:lstStyle/>
            <a:p>
              <a:pPr algn="l" marL="539371" indent="-269685" lvl="1">
                <a:lnSpc>
                  <a:spcPts val="3497"/>
                </a:lnSpc>
                <a:spcBef>
                  <a:spcPct val="0"/>
                </a:spcBef>
                <a:buAutoNum type="arabicPeriod" startAt="1"/>
              </a:pPr>
              <a:r>
                <a:rPr lang="en-US" b="true" sz="2498">
                  <a:solidFill>
                    <a:srgbClr val="0D0D0E"/>
                  </a:solidFill>
                  <a:latin typeface="Inter Bold"/>
                  <a:ea typeface="Inter Bold"/>
                  <a:cs typeface="Inter Bold"/>
                  <a:sym typeface="Inter Bold"/>
                </a:rPr>
                <a:t>RAW INPUT</a:t>
              </a:r>
            </a:p>
          </p:txBody>
        </p:sp>
      </p:grpSp>
      <p:grpSp>
        <p:nvGrpSpPr>
          <p:cNvPr name="Group 10" id="10"/>
          <p:cNvGrpSpPr/>
          <p:nvPr/>
        </p:nvGrpSpPr>
        <p:grpSpPr>
          <a:xfrm rot="0">
            <a:off x="14064685" y="1596979"/>
            <a:ext cx="4107776" cy="4664958"/>
            <a:chOff x="0" y="0"/>
            <a:chExt cx="1018506" cy="1156657"/>
          </a:xfrm>
        </p:grpSpPr>
        <p:sp>
          <p:nvSpPr>
            <p:cNvPr name="Freeform 11" id="11"/>
            <p:cNvSpPr/>
            <p:nvPr/>
          </p:nvSpPr>
          <p:spPr>
            <a:xfrm flipH="false" flipV="false" rot="0">
              <a:off x="0" y="0"/>
              <a:ext cx="1018506" cy="1156657"/>
            </a:xfrm>
            <a:custGeom>
              <a:avLst/>
              <a:gdLst/>
              <a:ahLst/>
              <a:cxnLst/>
              <a:rect r="r" b="b" t="t" l="l"/>
              <a:pathLst>
                <a:path h="1156657" w="1018506">
                  <a:moveTo>
                    <a:pt x="43348" y="0"/>
                  </a:moveTo>
                  <a:lnTo>
                    <a:pt x="975158" y="0"/>
                  </a:lnTo>
                  <a:cubicBezTo>
                    <a:pt x="986655" y="0"/>
                    <a:pt x="997680" y="4567"/>
                    <a:pt x="1005810" y="12696"/>
                  </a:cubicBezTo>
                  <a:cubicBezTo>
                    <a:pt x="1013939" y="20826"/>
                    <a:pt x="1018506" y="31851"/>
                    <a:pt x="1018506" y="43348"/>
                  </a:cubicBezTo>
                  <a:lnTo>
                    <a:pt x="1018506" y="1113309"/>
                  </a:lnTo>
                  <a:cubicBezTo>
                    <a:pt x="1018506" y="1124805"/>
                    <a:pt x="1013939" y="1135831"/>
                    <a:pt x="1005810" y="1143961"/>
                  </a:cubicBezTo>
                  <a:cubicBezTo>
                    <a:pt x="997680" y="1152090"/>
                    <a:pt x="986655" y="1156657"/>
                    <a:pt x="975158" y="1156657"/>
                  </a:cubicBezTo>
                  <a:lnTo>
                    <a:pt x="43348" y="1156657"/>
                  </a:lnTo>
                  <a:cubicBezTo>
                    <a:pt x="31851" y="1156657"/>
                    <a:pt x="20826" y="1152090"/>
                    <a:pt x="12696" y="1143961"/>
                  </a:cubicBezTo>
                  <a:cubicBezTo>
                    <a:pt x="4567" y="1135831"/>
                    <a:pt x="0" y="1124805"/>
                    <a:pt x="0" y="1113309"/>
                  </a:cubicBezTo>
                  <a:lnTo>
                    <a:pt x="0" y="43348"/>
                  </a:lnTo>
                  <a:cubicBezTo>
                    <a:pt x="0" y="31851"/>
                    <a:pt x="4567" y="20826"/>
                    <a:pt x="12696" y="12696"/>
                  </a:cubicBezTo>
                  <a:cubicBezTo>
                    <a:pt x="20826" y="4567"/>
                    <a:pt x="31851" y="0"/>
                    <a:pt x="43348" y="0"/>
                  </a:cubicBezTo>
                  <a:close/>
                </a:path>
              </a:pathLst>
            </a:custGeom>
            <a:blipFill>
              <a:blip r:embed="rId2"/>
              <a:stretch>
                <a:fillRect l="-6782" t="0" r="-6782" b="0"/>
              </a:stretch>
            </a:blipFill>
          </p:spPr>
        </p:sp>
      </p:grpSp>
      <p:grpSp>
        <p:nvGrpSpPr>
          <p:cNvPr name="Group 12" id="12"/>
          <p:cNvGrpSpPr/>
          <p:nvPr/>
        </p:nvGrpSpPr>
        <p:grpSpPr>
          <a:xfrm rot="0">
            <a:off x="263033" y="6671854"/>
            <a:ext cx="9231598" cy="2406863"/>
            <a:chOff x="0" y="0"/>
            <a:chExt cx="2288936" cy="596772"/>
          </a:xfrm>
        </p:grpSpPr>
        <p:sp>
          <p:nvSpPr>
            <p:cNvPr name="Freeform 13" id="13"/>
            <p:cNvSpPr/>
            <p:nvPr/>
          </p:nvSpPr>
          <p:spPr>
            <a:xfrm flipH="false" flipV="false" rot="0">
              <a:off x="0" y="0"/>
              <a:ext cx="2288936" cy="596772"/>
            </a:xfrm>
            <a:custGeom>
              <a:avLst/>
              <a:gdLst/>
              <a:ahLst/>
              <a:cxnLst/>
              <a:rect r="r" b="b" t="t" l="l"/>
              <a:pathLst>
                <a:path h="596772" w="2288936">
                  <a:moveTo>
                    <a:pt x="19289" y="0"/>
                  </a:moveTo>
                  <a:lnTo>
                    <a:pt x="2269648" y="0"/>
                  </a:lnTo>
                  <a:cubicBezTo>
                    <a:pt x="2274763" y="0"/>
                    <a:pt x="2279670" y="2032"/>
                    <a:pt x="2283287" y="5649"/>
                  </a:cubicBezTo>
                  <a:cubicBezTo>
                    <a:pt x="2286904" y="9267"/>
                    <a:pt x="2288936" y="14173"/>
                    <a:pt x="2288936" y="19289"/>
                  </a:cubicBezTo>
                  <a:lnTo>
                    <a:pt x="2288936" y="577483"/>
                  </a:lnTo>
                  <a:cubicBezTo>
                    <a:pt x="2288936" y="588136"/>
                    <a:pt x="2280301" y="596772"/>
                    <a:pt x="2269648" y="596772"/>
                  </a:cubicBezTo>
                  <a:lnTo>
                    <a:pt x="19289" y="596772"/>
                  </a:lnTo>
                  <a:cubicBezTo>
                    <a:pt x="14173" y="596772"/>
                    <a:pt x="9267" y="594740"/>
                    <a:pt x="5649" y="591122"/>
                  </a:cubicBezTo>
                  <a:cubicBezTo>
                    <a:pt x="2032" y="587505"/>
                    <a:pt x="0" y="582599"/>
                    <a:pt x="0" y="577483"/>
                  </a:cubicBezTo>
                  <a:lnTo>
                    <a:pt x="0" y="19289"/>
                  </a:lnTo>
                  <a:cubicBezTo>
                    <a:pt x="0" y="14173"/>
                    <a:pt x="2032" y="9267"/>
                    <a:pt x="5649" y="5649"/>
                  </a:cubicBezTo>
                  <a:cubicBezTo>
                    <a:pt x="9267" y="2032"/>
                    <a:pt x="14173" y="0"/>
                    <a:pt x="19289" y="0"/>
                  </a:cubicBezTo>
                  <a:close/>
                </a:path>
              </a:pathLst>
            </a:custGeom>
            <a:blipFill>
              <a:blip r:embed="rId2"/>
              <a:stretch>
                <a:fillRect l="0" t="-141776" r="0" b="-141776"/>
              </a:stretch>
            </a:blipFill>
          </p:spPr>
        </p:sp>
      </p:grpSp>
      <p:sp>
        <p:nvSpPr>
          <p:cNvPr name="TextBox 14" id="14"/>
          <p:cNvSpPr txBox="true"/>
          <p:nvPr/>
        </p:nvSpPr>
        <p:spPr>
          <a:xfrm rot="0">
            <a:off x="11979728" y="7798409"/>
            <a:ext cx="631914" cy="448973"/>
          </a:xfrm>
          <a:prstGeom prst="rect">
            <a:avLst/>
          </a:prstGeom>
        </p:spPr>
        <p:txBody>
          <a:bodyPr anchor="t" rtlCol="false" tIns="0" lIns="0" bIns="0" rIns="0">
            <a:spAutoFit/>
          </a:bodyPr>
          <a:lstStyle/>
          <a:p>
            <a:pPr algn="l" marL="0" indent="0" lvl="0">
              <a:lnSpc>
                <a:spcPts val="3603"/>
              </a:lnSpc>
            </a:pPr>
          </a:p>
        </p:txBody>
      </p:sp>
      <p:grpSp>
        <p:nvGrpSpPr>
          <p:cNvPr name="Group 15" id="15"/>
          <p:cNvGrpSpPr/>
          <p:nvPr/>
        </p:nvGrpSpPr>
        <p:grpSpPr>
          <a:xfrm rot="0">
            <a:off x="10218683" y="6814126"/>
            <a:ext cx="7040617" cy="2406863"/>
            <a:chOff x="0" y="0"/>
            <a:chExt cx="1745692" cy="596772"/>
          </a:xfrm>
        </p:grpSpPr>
        <p:sp>
          <p:nvSpPr>
            <p:cNvPr name="Freeform 16" id="16"/>
            <p:cNvSpPr/>
            <p:nvPr/>
          </p:nvSpPr>
          <p:spPr>
            <a:xfrm flipH="false" flipV="false" rot="0">
              <a:off x="0" y="0"/>
              <a:ext cx="1745692" cy="596772"/>
            </a:xfrm>
            <a:custGeom>
              <a:avLst/>
              <a:gdLst/>
              <a:ahLst/>
              <a:cxnLst/>
              <a:rect r="r" b="b" t="t" l="l"/>
              <a:pathLst>
                <a:path h="596772" w="1745692">
                  <a:moveTo>
                    <a:pt x="25291" y="0"/>
                  </a:moveTo>
                  <a:lnTo>
                    <a:pt x="1720401" y="0"/>
                  </a:lnTo>
                  <a:cubicBezTo>
                    <a:pt x="1727108" y="0"/>
                    <a:pt x="1733541" y="2665"/>
                    <a:pt x="1738284" y="7408"/>
                  </a:cubicBezTo>
                  <a:cubicBezTo>
                    <a:pt x="1743027" y="12151"/>
                    <a:pt x="1745692" y="18583"/>
                    <a:pt x="1745692" y="25291"/>
                  </a:cubicBezTo>
                  <a:lnTo>
                    <a:pt x="1745692" y="571481"/>
                  </a:lnTo>
                  <a:cubicBezTo>
                    <a:pt x="1745692" y="585449"/>
                    <a:pt x="1734369" y="596772"/>
                    <a:pt x="1720401" y="596772"/>
                  </a:cubicBezTo>
                  <a:lnTo>
                    <a:pt x="25291" y="596772"/>
                  </a:lnTo>
                  <a:cubicBezTo>
                    <a:pt x="18583" y="596772"/>
                    <a:pt x="12151" y="594107"/>
                    <a:pt x="7408" y="589364"/>
                  </a:cubicBezTo>
                  <a:cubicBezTo>
                    <a:pt x="2665" y="584621"/>
                    <a:pt x="0" y="578188"/>
                    <a:pt x="0" y="571481"/>
                  </a:cubicBezTo>
                  <a:lnTo>
                    <a:pt x="0" y="25291"/>
                  </a:lnTo>
                  <a:cubicBezTo>
                    <a:pt x="0" y="18583"/>
                    <a:pt x="2665" y="12151"/>
                    <a:pt x="7408" y="7408"/>
                  </a:cubicBezTo>
                  <a:cubicBezTo>
                    <a:pt x="12151" y="2665"/>
                    <a:pt x="18583" y="0"/>
                    <a:pt x="25291" y="0"/>
                  </a:cubicBezTo>
                  <a:close/>
                </a:path>
              </a:pathLst>
            </a:custGeom>
            <a:blipFill>
              <a:blip r:embed="rId3"/>
              <a:stretch>
                <a:fillRect l="-2783" t="-8148" r="-36319" b="0"/>
              </a:stretch>
            </a:blipFill>
          </p:spPr>
        </p:sp>
      </p:grpSp>
      <p:grpSp>
        <p:nvGrpSpPr>
          <p:cNvPr name="Group 17" id="17"/>
          <p:cNvGrpSpPr/>
          <p:nvPr/>
        </p:nvGrpSpPr>
        <p:grpSpPr>
          <a:xfrm rot="0">
            <a:off x="9144000" y="1633961"/>
            <a:ext cx="4540610" cy="4670414"/>
            <a:chOff x="0" y="0"/>
            <a:chExt cx="6054147" cy="6227219"/>
          </a:xfrm>
        </p:grpSpPr>
        <p:grpSp>
          <p:nvGrpSpPr>
            <p:cNvPr name="Group 18" id="18"/>
            <p:cNvGrpSpPr/>
            <p:nvPr/>
          </p:nvGrpSpPr>
          <p:grpSpPr>
            <a:xfrm rot="0">
              <a:off x="0" y="0"/>
              <a:ext cx="6054147" cy="6227219"/>
              <a:chOff x="0" y="0"/>
              <a:chExt cx="1005332" cy="1034072"/>
            </a:xfrm>
          </p:grpSpPr>
          <p:sp>
            <p:nvSpPr>
              <p:cNvPr name="Freeform 19" id="19"/>
              <p:cNvSpPr/>
              <p:nvPr/>
            </p:nvSpPr>
            <p:spPr>
              <a:xfrm flipH="false" flipV="false" rot="0">
                <a:off x="0" y="0"/>
                <a:ext cx="1005332" cy="1034072"/>
              </a:xfrm>
              <a:custGeom>
                <a:avLst/>
                <a:gdLst/>
                <a:ahLst/>
                <a:cxnLst/>
                <a:rect r="r" b="b" t="t" l="l"/>
                <a:pathLst>
                  <a:path h="1034072" w="1005332">
                    <a:moveTo>
                      <a:pt x="39216" y="0"/>
                    </a:moveTo>
                    <a:lnTo>
                      <a:pt x="966116" y="0"/>
                    </a:lnTo>
                    <a:cubicBezTo>
                      <a:pt x="987775" y="0"/>
                      <a:pt x="1005332" y="17558"/>
                      <a:pt x="1005332" y="39216"/>
                    </a:cubicBezTo>
                    <a:lnTo>
                      <a:pt x="1005332" y="994856"/>
                    </a:lnTo>
                    <a:cubicBezTo>
                      <a:pt x="1005332" y="1016514"/>
                      <a:pt x="987775" y="1034072"/>
                      <a:pt x="966116" y="1034072"/>
                    </a:cubicBezTo>
                    <a:lnTo>
                      <a:pt x="39216" y="1034072"/>
                    </a:lnTo>
                    <a:cubicBezTo>
                      <a:pt x="28815" y="1034072"/>
                      <a:pt x="18840" y="1029940"/>
                      <a:pt x="11486" y="1022586"/>
                    </a:cubicBezTo>
                    <a:cubicBezTo>
                      <a:pt x="4132" y="1015231"/>
                      <a:pt x="0" y="1005257"/>
                      <a:pt x="0" y="994856"/>
                    </a:cubicBezTo>
                    <a:lnTo>
                      <a:pt x="0" y="39216"/>
                    </a:lnTo>
                    <a:cubicBezTo>
                      <a:pt x="0" y="17558"/>
                      <a:pt x="17558" y="0"/>
                      <a:pt x="39216" y="0"/>
                    </a:cubicBezTo>
                    <a:close/>
                  </a:path>
                </a:pathLst>
              </a:custGeom>
              <a:blipFill>
                <a:blip r:embed="rId2"/>
                <a:stretch>
                  <a:fillRect l="-1429" t="0" r="-1429" b="0"/>
                </a:stretch>
              </a:blipFill>
            </p:spPr>
          </p:sp>
        </p:grpSp>
        <p:sp>
          <p:nvSpPr>
            <p:cNvPr name="TextBox 20" id="20"/>
            <p:cNvSpPr txBox="true"/>
            <p:nvPr/>
          </p:nvSpPr>
          <p:spPr>
            <a:xfrm rot="0">
              <a:off x="514821" y="1678912"/>
              <a:ext cx="4525055" cy="3739092"/>
            </a:xfrm>
            <a:prstGeom prst="rect">
              <a:avLst/>
            </a:prstGeom>
          </p:spPr>
          <p:txBody>
            <a:bodyPr anchor="t" rtlCol="false" tIns="0" lIns="0" bIns="0" rIns="0">
              <a:spAutoFit/>
            </a:bodyPr>
            <a:lstStyle/>
            <a:p>
              <a:pPr algn="l" marL="0" indent="0" lvl="0">
                <a:lnSpc>
                  <a:spcPts val="2800"/>
                </a:lnSpc>
              </a:pPr>
              <a:r>
                <a:rPr lang="en-US" b="true" sz="2000">
                  <a:solidFill>
                    <a:srgbClr val="0D0D0E"/>
                  </a:solidFill>
                  <a:latin typeface="Inter Bold"/>
                  <a:ea typeface="Inter Bold"/>
                  <a:cs typeface="Inter Bold"/>
                  <a:sym typeface="Inter Bold"/>
                </a:rPr>
                <a:t>H</a:t>
              </a:r>
              <a:r>
                <a:rPr lang="en-US" b="true" sz="2000">
                  <a:solidFill>
                    <a:srgbClr val="0D0D0E"/>
                  </a:solidFill>
                  <a:latin typeface="Inter Bold"/>
                  <a:ea typeface="Inter Bold"/>
                  <a:cs typeface="Inter Bold"/>
                  <a:sym typeface="Inter Bold"/>
                </a:rPr>
                <a:t>our and month are cyclical, so 11 PM sits right next to midnight and December next to January. They are converted into sine and cosine columns, which gives 16 model inputs in total. </a:t>
              </a:r>
            </a:p>
          </p:txBody>
        </p:sp>
        <p:sp>
          <p:nvSpPr>
            <p:cNvPr name="TextBox 21" id="21"/>
            <p:cNvSpPr txBox="true"/>
            <p:nvPr/>
          </p:nvSpPr>
          <p:spPr>
            <a:xfrm rot="0">
              <a:off x="131688" y="524800"/>
              <a:ext cx="5790770" cy="601239"/>
            </a:xfrm>
            <a:prstGeom prst="rect">
              <a:avLst/>
            </a:prstGeom>
          </p:spPr>
          <p:txBody>
            <a:bodyPr anchor="t" rtlCol="false" tIns="0" lIns="0" bIns="0" rIns="0">
              <a:spAutoFit/>
            </a:bodyPr>
            <a:lstStyle/>
            <a:p>
              <a:pPr algn="l">
                <a:lnSpc>
                  <a:spcPts val="3758"/>
                </a:lnSpc>
                <a:spcBef>
                  <a:spcPct val="0"/>
                </a:spcBef>
              </a:pPr>
              <a:r>
                <a:rPr lang="en-US" b="true" sz="2684">
                  <a:solidFill>
                    <a:srgbClr val="0D0D0E"/>
                  </a:solidFill>
                  <a:latin typeface="Inter Bold"/>
                  <a:ea typeface="Inter Bold"/>
                  <a:cs typeface="Inter Bold"/>
                  <a:sym typeface="Inter Bold"/>
                </a:rPr>
                <a:t>3.FEATURE ENGINEERING</a:t>
              </a:r>
            </a:p>
          </p:txBody>
        </p:sp>
      </p:grpSp>
      <p:sp>
        <p:nvSpPr>
          <p:cNvPr name="TextBox 22" id="22"/>
          <p:cNvSpPr txBox="true"/>
          <p:nvPr/>
        </p:nvSpPr>
        <p:spPr>
          <a:xfrm rot="0">
            <a:off x="2680220" y="4209203"/>
            <a:ext cx="631914" cy="448973"/>
          </a:xfrm>
          <a:prstGeom prst="rect">
            <a:avLst/>
          </a:prstGeom>
        </p:spPr>
        <p:txBody>
          <a:bodyPr anchor="t" rtlCol="false" tIns="0" lIns="0" bIns="0" rIns="0">
            <a:spAutoFit/>
          </a:bodyPr>
          <a:lstStyle/>
          <a:p>
            <a:pPr algn="l" marL="0" indent="0" lvl="0">
              <a:lnSpc>
                <a:spcPts val="3603"/>
              </a:lnSpc>
            </a:pPr>
          </a:p>
        </p:txBody>
      </p:sp>
      <p:sp>
        <p:nvSpPr>
          <p:cNvPr name="TextBox 23" id="23"/>
          <p:cNvSpPr txBox="true"/>
          <p:nvPr/>
        </p:nvSpPr>
        <p:spPr>
          <a:xfrm rot="0">
            <a:off x="2680220" y="5994281"/>
            <a:ext cx="631914" cy="448973"/>
          </a:xfrm>
          <a:prstGeom prst="rect">
            <a:avLst/>
          </a:prstGeom>
        </p:spPr>
        <p:txBody>
          <a:bodyPr anchor="t" rtlCol="false" tIns="0" lIns="0" bIns="0" rIns="0">
            <a:spAutoFit/>
          </a:bodyPr>
          <a:lstStyle/>
          <a:p>
            <a:pPr algn="l" marL="0" indent="0" lvl="0">
              <a:lnSpc>
                <a:spcPts val="3603"/>
              </a:lnSpc>
            </a:pPr>
          </a:p>
        </p:txBody>
      </p:sp>
      <p:sp>
        <p:nvSpPr>
          <p:cNvPr name="TextBox 24" id="24"/>
          <p:cNvSpPr txBox="true"/>
          <p:nvPr/>
        </p:nvSpPr>
        <p:spPr>
          <a:xfrm rot="0">
            <a:off x="2913606" y="2426730"/>
            <a:ext cx="631914" cy="448973"/>
          </a:xfrm>
          <a:prstGeom prst="rect">
            <a:avLst/>
          </a:prstGeom>
        </p:spPr>
        <p:txBody>
          <a:bodyPr anchor="t" rtlCol="false" tIns="0" lIns="0" bIns="0" rIns="0">
            <a:spAutoFit/>
          </a:bodyPr>
          <a:lstStyle/>
          <a:p>
            <a:pPr algn="l" marL="0" indent="0" lvl="0">
              <a:lnSpc>
                <a:spcPts val="3603"/>
              </a:lnSpc>
            </a:pPr>
          </a:p>
        </p:txBody>
      </p:sp>
      <p:grpSp>
        <p:nvGrpSpPr>
          <p:cNvPr name="Group 25" id="25"/>
          <p:cNvGrpSpPr/>
          <p:nvPr/>
        </p:nvGrpSpPr>
        <p:grpSpPr>
          <a:xfrm rot="0">
            <a:off x="28555" y="1769797"/>
            <a:ext cx="4408071" cy="4529122"/>
            <a:chOff x="0" y="0"/>
            <a:chExt cx="1048701" cy="1077500"/>
          </a:xfrm>
        </p:grpSpPr>
        <p:sp>
          <p:nvSpPr>
            <p:cNvPr name="Freeform 26" id="26"/>
            <p:cNvSpPr/>
            <p:nvPr/>
          </p:nvSpPr>
          <p:spPr>
            <a:xfrm flipH="false" flipV="false" rot="0">
              <a:off x="0" y="0"/>
              <a:ext cx="1048701" cy="1077500"/>
            </a:xfrm>
            <a:custGeom>
              <a:avLst/>
              <a:gdLst/>
              <a:ahLst/>
              <a:cxnLst/>
              <a:rect r="r" b="b" t="t" l="l"/>
              <a:pathLst>
                <a:path h="1077500" w="1048701">
                  <a:moveTo>
                    <a:pt x="40395" y="0"/>
                  </a:moveTo>
                  <a:lnTo>
                    <a:pt x="1008306" y="0"/>
                  </a:lnTo>
                  <a:cubicBezTo>
                    <a:pt x="1019020" y="0"/>
                    <a:pt x="1029294" y="4256"/>
                    <a:pt x="1036870" y="11831"/>
                  </a:cubicBezTo>
                  <a:cubicBezTo>
                    <a:pt x="1044445" y="19407"/>
                    <a:pt x="1048701" y="29682"/>
                    <a:pt x="1048701" y="40395"/>
                  </a:cubicBezTo>
                  <a:lnTo>
                    <a:pt x="1048701" y="1037105"/>
                  </a:lnTo>
                  <a:cubicBezTo>
                    <a:pt x="1048701" y="1059414"/>
                    <a:pt x="1030616" y="1077500"/>
                    <a:pt x="1008306" y="1077500"/>
                  </a:cubicBezTo>
                  <a:lnTo>
                    <a:pt x="40395" y="1077500"/>
                  </a:lnTo>
                  <a:cubicBezTo>
                    <a:pt x="18085" y="1077500"/>
                    <a:pt x="0" y="1059414"/>
                    <a:pt x="0" y="1037105"/>
                  </a:cubicBezTo>
                  <a:lnTo>
                    <a:pt x="0" y="40395"/>
                  </a:lnTo>
                  <a:cubicBezTo>
                    <a:pt x="0" y="18085"/>
                    <a:pt x="18085" y="0"/>
                    <a:pt x="40395" y="0"/>
                  </a:cubicBezTo>
                  <a:close/>
                </a:path>
              </a:pathLst>
            </a:custGeom>
            <a:blipFill>
              <a:blip r:embed="rId2"/>
              <a:stretch>
                <a:fillRect l="-1373" t="0" r="-1373" b="0"/>
              </a:stretch>
            </a:blipFill>
          </p:spPr>
        </p:sp>
      </p:grpSp>
      <p:sp>
        <p:nvSpPr>
          <p:cNvPr name="TextBox 27" id="27"/>
          <p:cNvSpPr txBox="true"/>
          <p:nvPr/>
        </p:nvSpPr>
        <p:spPr>
          <a:xfrm rot="0">
            <a:off x="943197" y="7588870"/>
            <a:ext cx="8255184" cy="1136039"/>
          </a:xfrm>
          <a:prstGeom prst="rect">
            <a:avLst/>
          </a:prstGeom>
        </p:spPr>
        <p:txBody>
          <a:bodyPr anchor="t" rtlCol="false" tIns="0" lIns="0" bIns="0" rIns="0">
            <a:spAutoFit/>
          </a:bodyPr>
          <a:lstStyle/>
          <a:p>
            <a:pPr algn="l">
              <a:lnSpc>
                <a:spcPts val="3008"/>
              </a:lnSpc>
            </a:pPr>
            <a:r>
              <a:rPr lang="en-US" sz="2149" b="true">
                <a:solidFill>
                  <a:srgbClr val="0D0D0E"/>
                </a:solidFill>
                <a:latin typeface="Inter Bold"/>
                <a:ea typeface="Inter Bold"/>
                <a:cs typeface="Inter Bold"/>
                <a:sym typeface="Inter Bold"/>
              </a:rPr>
              <a:t>PREDICTED : 122</a:t>
            </a:r>
          </a:p>
          <a:p>
            <a:pPr algn="l">
              <a:lnSpc>
                <a:spcPts val="3008"/>
              </a:lnSpc>
            </a:pPr>
            <a:r>
              <a:rPr lang="en-US" sz="2149" b="true">
                <a:solidFill>
                  <a:srgbClr val="0D0D0E"/>
                </a:solidFill>
                <a:latin typeface="Inter Bold"/>
                <a:ea typeface="Inter Bold"/>
                <a:cs typeface="Inter Bold"/>
                <a:sym typeface="Inter Bold"/>
              </a:rPr>
              <a:t>ACTUAL       : 115</a:t>
            </a:r>
          </a:p>
          <a:p>
            <a:pPr algn="l" marL="0" indent="0" lvl="0">
              <a:lnSpc>
                <a:spcPts val="3008"/>
              </a:lnSpc>
            </a:pPr>
            <a:r>
              <a:rPr lang="en-US" b="true" sz="2149">
                <a:solidFill>
                  <a:srgbClr val="0D0D0E"/>
                </a:solidFill>
                <a:latin typeface="Inter Bold"/>
                <a:ea typeface="Inter Bold"/>
                <a:cs typeface="Inter Bold"/>
                <a:sym typeface="Inter Bold"/>
              </a:rPr>
              <a:t>CLOSE MATCH SO THE WHOLE PIPELINE WORKS</a:t>
            </a:r>
          </a:p>
        </p:txBody>
      </p:sp>
      <p:sp>
        <p:nvSpPr>
          <p:cNvPr name="TextBox 28" id="28"/>
          <p:cNvSpPr txBox="true"/>
          <p:nvPr/>
        </p:nvSpPr>
        <p:spPr>
          <a:xfrm rot="0">
            <a:off x="14321588" y="2761353"/>
            <a:ext cx="3593969" cy="3229576"/>
          </a:xfrm>
          <a:prstGeom prst="rect">
            <a:avLst/>
          </a:prstGeom>
        </p:spPr>
        <p:txBody>
          <a:bodyPr anchor="t" rtlCol="false" tIns="0" lIns="0" bIns="0" rIns="0">
            <a:spAutoFit/>
          </a:bodyPr>
          <a:lstStyle/>
          <a:p>
            <a:pPr algn="l" marL="0" indent="0" lvl="0">
              <a:lnSpc>
                <a:spcPts val="2591"/>
              </a:lnSpc>
            </a:pPr>
            <a:r>
              <a:rPr lang="en-US" b="true" sz="1851">
                <a:solidFill>
                  <a:srgbClr val="0D0D0E"/>
                </a:solidFill>
                <a:latin typeface="Inter Bold"/>
                <a:ea typeface="Inter Bold"/>
                <a:cs typeface="Inter Bold"/>
                <a:sym typeface="Inter Bold"/>
              </a:rPr>
              <a:t>The output is converted back to a real bike count using np.expm1, the inverse of the log transform. Without this step, predictions would look about 30 times too small. Every prediction is written to a log file with its input and a timestamp, which can be monitored later to detect data drift.</a:t>
            </a:r>
          </a:p>
        </p:txBody>
      </p:sp>
      <p:sp>
        <p:nvSpPr>
          <p:cNvPr name="TextBox 29" id="29"/>
          <p:cNvSpPr txBox="true"/>
          <p:nvPr/>
        </p:nvSpPr>
        <p:spPr>
          <a:xfrm rot="0">
            <a:off x="16396043" y="1269743"/>
            <a:ext cx="1428717" cy="248885"/>
          </a:xfrm>
          <a:prstGeom prst="rect">
            <a:avLst/>
          </a:prstGeom>
        </p:spPr>
        <p:txBody>
          <a:bodyPr anchor="t" rtlCol="false" tIns="0" lIns="0" bIns="0" rIns="0">
            <a:spAutoFit/>
          </a:bodyPr>
          <a:lstStyle/>
          <a:p>
            <a:pPr algn="r" marL="0" indent="0" lvl="0">
              <a:lnSpc>
                <a:spcPts val="2031"/>
              </a:lnSpc>
            </a:pPr>
            <a:r>
              <a:rPr lang="en-US" b="true" sz="1451">
                <a:solidFill>
                  <a:srgbClr val="475569"/>
                </a:solidFill>
                <a:latin typeface="Inter Medium"/>
                <a:ea typeface="Inter Medium"/>
                <a:cs typeface="Inter Medium"/>
                <a:sym typeface="Inter Medium"/>
              </a:rPr>
              <a:t>07</a:t>
            </a:r>
          </a:p>
        </p:txBody>
      </p:sp>
      <p:sp>
        <p:nvSpPr>
          <p:cNvPr name="TextBox 30" id="30"/>
          <p:cNvSpPr txBox="true"/>
          <p:nvPr/>
        </p:nvSpPr>
        <p:spPr>
          <a:xfrm rot="0">
            <a:off x="14246493" y="1889453"/>
            <a:ext cx="3877385" cy="481375"/>
          </a:xfrm>
          <a:prstGeom prst="rect">
            <a:avLst/>
          </a:prstGeom>
        </p:spPr>
        <p:txBody>
          <a:bodyPr anchor="t" rtlCol="false" tIns="0" lIns="0" bIns="0" rIns="0">
            <a:spAutoFit/>
          </a:bodyPr>
          <a:lstStyle/>
          <a:p>
            <a:pPr algn="l" marL="604139" indent="-302069" lvl="1">
              <a:lnSpc>
                <a:spcPts val="3917"/>
              </a:lnSpc>
              <a:spcBef>
                <a:spcPct val="0"/>
              </a:spcBef>
              <a:buAutoNum type="arabicPeriod" startAt="1"/>
            </a:pPr>
            <a:r>
              <a:rPr lang="en-US" b="true" sz="2798">
                <a:solidFill>
                  <a:srgbClr val="0D0D0E"/>
                </a:solidFill>
                <a:latin typeface="Inter Bold"/>
                <a:ea typeface="Inter Bold"/>
                <a:cs typeface="Inter Bold"/>
                <a:sym typeface="Inter Bold"/>
              </a:rPr>
              <a:t>O</a:t>
            </a:r>
            <a:r>
              <a:rPr lang="en-US" b="true" sz="2798">
                <a:solidFill>
                  <a:srgbClr val="0D0D0E"/>
                </a:solidFill>
                <a:latin typeface="Inter Bold"/>
                <a:ea typeface="Inter Bold"/>
                <a:cs typeface="Inter Bold"/>
                <a:sym typeface="Inter Bold"/>
              </a:rPr>
              <a:t>utput &amp; Logging</a:t>
            </a:r>
          </a:p>
        </p:txBody>
      </p:sp>
      <p:sp>
        <p:nvSpPr>
          <p:cNvPr name="TextBox 31" id="31"/>
          <p:cNvSpPr txBox="true"/>
          <p:nvPr/>
        </p:nvSpPr>
        <p:spPr>
          <a:xfrm rot="0">
            <a:off x="683541" y="280062"/>
            <a:ext cx="9917605" cy="1018257"/>
          </a:xfrm>
          <a:prstGeom prst="rect">
            <a:avLst/>
          </a:prstGeom>
        </p:spPr>
        <p:txBody>
          <a:bodyPr anchor="t" rtlCol="false" tIns="0" lIns="0" bIns="0" rIns="0">
            <a:spAutoFit/>
          </a:bodyPr>
          <a:lstStyle/>
          <a:p>
            <a:pPr algn="l" marL="0" indent="0" lvl="0">
              <a:lnSpc>
                <a:spcPts val="3855"/>
              </a:lnSpc>
            </a:pPr>
            <a:r>
              <a:rPr lang="en-US" sz="3894">
                <a:solidFill>
                  <a:srgbClr val="0D0D0E"/>
                </a:solidFill>
                <a:latin typeface="Arimo"/>
                <a:ea typeface="Arimo"/>
                <a:cs typeface="Arimo"/>
                <a:sym typeface="Arimo"/>
              </a:rPr>
              <a:t>Model Pipeline : from trained model to working prediction</a:t>
            </a:r>
          </a:p>
        </p:txBody>
      </p:sp>
      <p:sp>
        <p:nvSpPr>
          <p:cNvPr name="TextBox 32" id="32"/>
          <p:cNvSpPr txBox="true"/>
          <p:nvPr/>
        </p:nvSpPr>
        <p:spPr>
          <a:xfrm rot="0">
            <a:off x="560052" y="2530347"/>
            <a:ext cx="3287968" cy="3426841"/>
          </a:xfrm>
          <a:prstGeom prst="rect">
            <a:avLst/>
          </a:prstGeom>
        </p:spPr>
        <p:txBody>
          <a:bodyPr anchor="t" rtlCol="false" tIns="0" lIns="0" bIns="0" rIns="0">
            <a:spAutoFit/>
          </a:bodyPr>
          <a:lstStyle/>
          <a:p>
            <a:pPr algn="l" marL="0" indent="0" lvl="0">
              <a:lnSpc>
                <a:spcPts val="2743"/>
              </a:lnSpc>
            </a:pPr>
            <a:r>
              <a:rPr lang="en-US" b="true" sz="1959">
                <a:solidFill>
                  <a:srgbClr val="0D0D0E"/>
                </a:solidFill>
                <a:latin typeface="Inter Bold"/>
                <a:ea typeface="Inter Bold"/>
                <a:cs typeface="Inter Bold"/>
                <a:sym typeface="Inter Bold"/>
              </a:rPr>
              <a:t>The t</a:t>
            </a:r>
            <a:r>
              <a:rPr lang="en-US" b="true" sz="1959">
                <a:solidFill>
                  <a:srgbClr val="0D0D0E"/>
                </a:solidFill>
                <a:latin typeface="Inter Bold"/>
                <a:ea typeface="Inter Bold"/>
                <a:cs typeface="Inter Bold"/>
                <a:sym typeface="Inter Bold"/>
              </a:rPr>
              <a:t>rained Random Forest (200 trees, saved as model.pkl) is loaded once when the script starts, not on every request, which keeps predictions fast. The model was trained on log-transformed demand, so its raw output is on a log scale.</a:t>
            </a:r>
          </a:p>
        </p:txBody>
      </p:sp>
      <p:sp>
        <p:nvSpPr>
          <p:cNvPr name="TextBox 33" id="33"/>
          <p:cNvSpPr txBox="true"/>
          <p:nvPr/>
        </p:nvSpPr>
        <p:spPr>
          <a:xfrm rot="0">
            <a:off x="270267" y="1933269"/>
            <a:ext cx="4540610" cy="412795"/>
          </a:xfrm>
          <a:prstGeom prst="rect">
            <a:avLst/>
          </a:prstGeom>
        </p:spPr>
        <p:txBody>
          <a:bodyPr anchor="t" rtlCol="false" tIns="0" lIns="0" bIns="0" rIns="0">
            <a:spAutoFit/>
          </a:bodyPr>
          <a:lstStyle/>
          <a:p>
            <a:pPr algn="l" marL="539371" indent="-269685" lvl="1">
              <a:lnSpc>
                <a:spcPts val="3497"/>
              </a:lnSpc>
              <a:spcBef>
                <a:spcPct val="0"/>
              </a:spcBef>
              <a:buAutoNum type="arabicPeriod" startAt="1"/>
            </a:pPr>
            <a:r>
              <a:rPr lang="en-US" b="true" sz="2498">
                <a:solidFill>
                  <a:srgbClr val="0D0D0E"/>
                </a:solidFill>
                <a:latin typeface="Inter Bold"/>
                <a:ea typeface="Inter Bold"/>
                <a:cs typeface="Inter Bold"/>
                <a:sym typeface="Inter Bold"/>
              </a:rPr>
              <a:t>MODEL IMPORTING</a:t>
            </a:r>
          </a:p>
        </p:txBody>
      </p:sp>
      <p:sp>
        <p:nvSpPr>
          <p:cNvPr name="TextBox 34" id="34"/>
          <p:cNvSpPr txBox="true"/>
          <p:nvPr/>
        </p:nvSpPr>
        <p:spPr>
          <a:xfrm rot="0">
            <a:off x="263033" y="6776026"/>
            <a:ext cx="9231598" cy="412795"/>
          </a:xfrm>
          <a:prstGeom prst="rect">
            <a:avLst/>
          </a:prstGeom>
        </p:spPr>
        <p:txBody>
          <a:bodyPr anchor="t" rtlCol="false" tIns="0" lIns="0" bIns="0" rIns="0">
            <a:spAutoFit/>
          </a:bodyPr>
          <a:lstStyle/>
          <a:p>
            <a:pPr algn="ctr">
              <a:lnSpc>
                <a:spcPts val="3497"/>
              </a:lnSpc>
              <a:spcBef>
                <a:spcPct val="0"/>
              </a:spcBef>
            </a:pPr>
            <a:r>
              <a:rPr lang="en-US" b="true" sz="2498">
                <a:solidFill>
                  <a:srgbClr val="0D0D0E"/>
                </a:solidFill>
                <a:latin typeface="Inter Bold"/>
                <a:ea typeface="Inter Bold"/>
                <a:cs typeface="Inter Bold"/>
                <a:sym typeface="Inter Bold"/>
              </a:rPr>
              <a:t>CHECK ON A REAL HOUR FROM  THE DATASET</a:t>
            </a:r>
          </a:p>
        </p:txBody>
      </p:sp>
    </p:spTree>
  </p:cSld>
  <p:clrMapOvr>
    <a:masterClrMapping/>
  </p:clrMapOvr>
  <p:transition spd="slow">
    <p:push dir="l"/>
  </p:transition>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87221"/>
            <a:ext cx="18477505" cy="10287000"/>
            <a:chOff x="0" y="0"/>
            <a:chExt cx="4866503" cy="2709333"/>
          </a:xfrm>
        </p:grpSpPr>
        <p:sp>
          <p:nvSpPr>
            <p:cNvPr name="Freeform 3" id="3"/>
            <p:cNvSpPr/>
            <p:nvPr/>
          </p:nvSpPr>
          <p:spPr>
            <a:xfrm flipH="false" flipV="false" rot="0">
              <a:off x="0" y="0"/>
              <a:ext cx="4866503" cy="2709333"/>
            </a:xfrm>
            <a:custGeom>
              <a:avLst/>
              <a:gdLst/>
              <a:ahLst/>
              <a:cxnLst/>
              <a:rect r="r" b="b" t="t" l="l"/>
              <a:pathLst>
                <a:path h="2709333" w="4866503">
                  <a:moveTo>
                    <a:pt x="21369" y="0"/>
                  </a:moveTo>
                  <a:lnTo>
                    <a:pt x="4845135" y="0"/>
                  </a:lnTo>
                  <a:cubicBezTo>
                    <a:pt x="4850802" y="0"/>
                    <a:pt x="4856237" y="2251"/>
                    <a:pt x="4860245" y="6259"/>
                  </a:cubicBezTo>
                  <a:cubicBezTo>
                    <a:pt x="4864252" y="10266"/>
                    <a:pt x="4866503" y="15701"/>
                    <a:pt x="4866503" y="21369"/>
                  </a:cubicBezTo>
                  <a:lnTo>
                    <a:pt x="4866503" y="2687965"/>
                  </a:lnTo>
                  <a:cubicBezTo>
                    <a:pt x="4866503" y="2693632"/>
                    <a:pt x="4864252" y="2699067"/>
                    <a:pt x="4860245" y="2703075"/>
                  </a:cubicBezTo>
                  <a:cubicBezTo>
                    <a:pt x="4856237" y="2707082"/>
                    <a:pt x="4850802" y="2709333"/>
                    <a:pt x="4845135" y="2709333"/>
                  </a:cubicBezTo>
                  <a:lnTo>
                    <a:pt x="21369" y="2709333"/>
                  </a:lnTo>
                  <a:cubicBezTo>
                    <a:pt x="15701" y="2709333"/>
                    <a:pt x="10266" y="2707082"/>
                    <a:pt x="6259" y="2703075"/>
                  </a:cubicBezTo>
                  <a:cubicBezTo>
                    <a:pt x="2251" y="2699067"/>
                    <a:pt x="0" y="2693632"/>
                    <a:pt x="0" y="2687965"/>
                  </a:cubicBezTo>
                  <a:lnTo>
                    <a:pt x="0" y="21369"/>
                  </a:lnTo>
                  <a:cubicBezTo>
                    <a:pt x="0" y="15701"/>
                    <a:pt x="2251" y="10266"/>
                    <a:pt x="6259" y="6259"/>
                  </a:cubicBezTo>
                  <a:cubicBezTo>
                    <a:pt x="10266" y="2251"/>
                    <a:pt x="15701" y="0"/>
                    <a:pt x="21369" y="0"/>
                  </a:cubicBezTo>
                  <a:close/>
                </a:path>
              </a:pathLst>
            </a:custGeom>
            <a:solidFill>
              <a:srgbClr val="EEF4FA"/>
            </a:solidFill>
          </p:spPr>
        </p:sp>
        <p:sp>
          <p:nvSpPr>
            <p:cNvPr name="TextBox 4" id="4"/>
            <p:cNvSpPr txBox="true"/>
            <p:nvPr/>
          </p:nvSpPr>
          <p:spPr>
            <a:xfrm>
              <a:off x="0" y="-38100"/>
              <a:ext cx="4866503"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401714" y="2124759"/>
            <a:ext cx="17484573" cy="7744600"/>
          </a:xfrm>
          <a:custGeom>
            <a:avLst/>
            <a:gdLst/>
            <a:ahLst/>
            <a:cxnLst/>
            <a:rect r="r" b="b" t="t" l="l"/>
            <a:pathLst>
              <a:path h="7744600" w="17484573">
                <a:moveTo>
                  <a:pt x="0" y="0"/>
                </a:moveTo>
                <a:lnTo>
                  <a:pt x="17484572" y="0"/>
                </a:lnTo>
                <a:lnTo>
                  <a:pt x="17484572" y="7744601"/>
                </a:lnTo>
                <a:lnTo>
                  <a:pt x="0" y="7744601"/>
                </a:lnTo>
                <a:lnTo>
                  <a:pt x="0" y="0"/>
                </a:lnTo>
                <a:close/>
              </a:path>
            </a:pathLst>
          </a:custGeom>
          <a:blipFill>
            <a:blip r:embed="rId2"/>
            <a:stretch>
              <a:fillRect l="0" t="-1876" r="0" b="0"/>
            </a:stretch>
          </a:blipFill>
        </p:spPr>
      </p:sp>
      <p:sp>
        <p:nvSpPr>
          <p:cNvPr name="TextBox 6" id="6"/>
          <p:cNvSpPr txBox="true"/>
          <p:nvPr/>
        </p:nvSpPr>
        <p:spPr>
          <a:xfrm rot="0">
            <a:off x="11979728" y="7798409"/>
            <a:ext cx="631914" cy="448973"/>
          </a:xfrm>
          <a:prstGeom prst="rect">
            <a:avLst/>
          </a:prstGeom>
        </p:spPr>
        <p:txBody>
          <a:bodyPr anchor="t" rtlCol="false" tIns="0" lIns="0" bIns="0" rIns="0">
            <a:spAutoFit/>
          </a:bodyPr>
          <a:lstStyle/>
          <a:p>
            <a:pPr algn="l" marL="0" indent="0" lvl="0">
              <a:lnSpc>
                <a:spcPts val="3603"/>
              </a:lnSpc>
            </a:pPr>
          </a:p>
        </p:txBody>
      </p:sp>
      <p:sp>
        <p:nvSpPr>
          <p:cNvPr name="TextBox 7" id="7"/>
          <p:cNvSpPr txBox="true"/>
          <p:nvPr/>
        </p:nvSpPr>
        <p:spPr>
          <a:xfrm rot="0">
            <a:off x="16396043" y="1269743"/>
            <a:ext cx="1428717" cy="248885"/>
          </a:xfrm>
          <a:prstGeom prst="rect">
            <a:avLst/>
          </a:prstGeom>
        </p:spPr>
        <p:txBody>
          <a:bodyPr anchor="t" rtlCol="false" tIns="0" lIns="0" bIns="0" rIns="0">
            <a:spAutoFit/>
          </a:bodyPr>
          <a:lstStyle/>
          <a:p>
            <a:pPr algn="r" marL="0" indent="0" lvl="0">
              <a:lnSpc>
                <a:spcPts val="2031"/>
              </a:lnSpc>
            </a:pPr>
            <a:r>
              <a:rPr lang="en-US" b="true" sz="1451">
                <a:solidFill>
                  <a:srgbClr val="475569"/>
                </a:solidFill>
                <a:latin typeface="Inter Medium"/>
                <a:ea typeface="Inter Medium"/>
                <a:cs typeface="Inter Medium"/>
                <a:sym typeface="Inter Medium"/>
              </a:rPr>
              <a:t>07</a:t>
            </a:r>
          </a:p>
        </p:txBody>
      </p:sp>
      <p:sp>
        <p:nvSpPr>
          <p:cNvPr name="TextBox 8" id="8"/>
          <p:cNvSpPr txBox="true"/>
          <p:nvPr/>
        </p:nvSpPr>
        <p:spPr>
          <a:xfrm rot="0">
            <a:off x="0" y="445149"/>
            <a:ext cx="17484573" cy="963325"/>
          </a:xfrm>
          <a:prstGeom prst="rect">
            <a:avLst/>
          </a:prstGeom>
        </p:spPr>
        <p:txBody>
          <a:bodyPr anchor="t" rtlCol="false" tIns="0" lIns="0" bIns="0" rIns="0">
            <a:spAutoFit/>
          </a:bodyPr>
          <a:lstStyle/>
          <a:p>
            <a:pPr algn="ctr">
              <a:lnSpc>
                <a:spcPts val="7803"/>
              </a:lnSpc>
              <a:spcBef>
                <a:spcPct val="0"/>
              </a:spcBef>
            </a:pPr>
            <a:r>
              <a:rPr lang="en-US" b="true" sz="5573">
                <a:solidFill>
                  <a:srgbClr val="004AAD"/>
                </a:solidFill>
                <a:latin typeface="Inter Bold"/>
                <a:ea typeface="Inter Bold"/>
                <a:cs typeface="Inter Bold"/>
                <a:sym typeface="Inter Bold"/>
              </a:rPr>
              <a:t>LOGGING, TESTING AND MONITORING</a:t>
            </a:r>
          </a:p>
        </p:txBody>
      </p:sp>
    </p:spTree>
  </p:cSld>
  <p:clrMapOvr>
    <a:masterClrMapping/>
  </p:clrMapOvr>
  <p:transition spd="slow">
    <p:push dir="l"/>
  </p:transition>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87221"/>
            <a:ext cx="18477505" cy="10287000"/>
            <a:chOff x="0" y="0"/>
            <a:chExt cx="4866503" cy="2709333"/>
          </a:xfrm>
        </p:grpSpPr>
        <p:sp>
          <p:nvSpPr>
            <p:cNvPr name="Freeform 3" id="3"/>
            <p:cNvSpPr/>
            <p:nvPr/>
          </p:nvSpPr>
          <p:spPr>
            <a:xfrm flipH="false" flipV="false" rot="0">
              <a:off x="0" y="0"/>
              <a:ext cx="4866503" cy="2709333"/>
            </a:xfrm>
            <a:custGeom>
              <a:avLst/>
              <a:gdLst/>
              <a:ahLst/>
              <a:cxnLst/>
              <a:rect r="r" b="b" t="t" l="l"/>
              <a:pathLst>
                <a:path h="2709333" w="4866503">
                  <a:moveTo>
                    <a:pt x="21369" y="0"/>
                  </a:moveTo>
                  <a:lnTo>
                    <a:pt x="4845135" y="0"/>
                  </a:lnTo>
                  <a:cubicBezTo>
                    <a:pt x="4850802" y="0"/>
                    <a:pt x="4856237" y="2251"/>
                    <a:pt x="4860245" y="6259"/>
                  </a:cubicBezTo>
                  <a:cubicBezTo>
                    <a:pt x="4864252" y="10266"/>
                    <a:pt x="4866503" y="15701"/>
                    <a:pt x="4866503" y="21369"/>
                  </a:cubicBezTo>
                  <a:lnTo>
                    <a:pt x="4866503" y="2687965"/>
                  </a:lnTo>
                  <a:cubicBezTo>
                    <a:pt x="4866503" y="2693632"/>
                    <a:pt x="4864252" y="2699067"/>
                    <a:pt x="4860245" y="2703075"/>
                  </a:cubicBezTo>
                  <a:cubicBezTo>
                    <a:pt x="4856237" y="2707082"/>
                    <a:pt x="4850802" y="2709333"/>
                    <a:pt x="4845135" y="2709333"/>
                  </a:cubicBezTo>
                  <a:lnTo>
                    <a:pt x="21369" y="2709333"/>
                  </a:lnTo>
                  <a:cubicBezTo>
                    <a:pt x="15701" y="2709333"/>
                    <a:pt x="10266" y="2707082"/>
                    <a:pt x="6259" y="2703075"/>
                  </a:cubicBezTo>
                  <a:cubicBezTo>
                    <a:pt x="2251" y="2699067"/>
                    <a:pt x="0" y="2693632"/>
                    <a:pt x="0" y="2687965"/>
                  </a:cubicBezTo>
                  <a:lnTo>
                    <a:pt x="0" y="21369"/>
                  </a:lnTo>
                  <a:cubicBezTo>
                    <a:pt x="0" y="15701"/>
                    <a:pt x="2251" y="10266"/>
                    <a:pt x="6259" y="6259"/>
                  </a:cubicBezTo>
                  <a:cubicBezTo>
                    <a:pt x="10266" y="2251"/>
                    <a:pt x="15701" y="0"/>
                    <a:pt x="21369" y="0"/>
                  </a:cubicBezTo>
                  <a:close/>
                </a:path>
              </a:pathLst>
            </a:custGeom>
            <a:solidFill>
              <a:srgbClr val="EEF4FA"/>
            </a:solidFill>
          </p:spPr>
        </p:sp>
        <p:sp>
          <p:nvSpPr>
            <p:cNvPr name="TextBox 4" id="4"/>
            <p:cNvSpPr txBox="true"/>
            <p:nvPr/>
          </p:nvSpPr>
          <p:spPr>
            <a:xfrm>
              <a:off x="0" y="-38100"/>
              <a:ext cx="4866503"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297186" y="367271"/>
            <a:ext cx="10052295" cy="9552458"/>
          </a:xfrm>
          <a:custGeom>
            <a:avLst/>
            <a:gdLst/>
            <a:ahLst/>
            <a:cxnLst/>
            <a:rect r="r" b="b" t="t" l="l"/>
            <a:pathLst>
              <a:path h="9552458" w="10052295">
                <a:moveTo>
                  <a:pt x="0" y="0"/>
                </a:moveTo>
                <a:lnTo>
                  <a:pt x="10052296" y="0"/>
                </a:lnTo>
                <a:lnTo>
                  <a:pt x="10052296" y="9552458"/>
                </a:lnTo>
                <a:lnTo>
                  <a:pt x="0" y="9552458"/>
                </a:lnTo>
                <a:lnTo>
                  <a:pt x="0" y="0"/>
                </a:lnTo>
                <a:close/>
              </a:path>
            </a:pathLst>
          </a:custGeom>
          <a:blipFill>
            <a:blip r:embed="rId2"/>
            <a:stretch>
              <a:fillRect l="-169" t="0" r="-169" b="0"/>
            </a:stretch>
          </a:blipFill>
        </p:spPr>
      </p:sp>
      <p:sp>
        <p:nvSpPr>
          <p:cNvPr name="TextBox 6" id="6"/>
          <p:cNvSpPr txBox="true"/>
          <p:nvPr/>
        </p:nvSpPr>
        <p:spPr>
          <a:xfrm rot="0">
            <a:off x="11979728" y="7798409"/>
            <a:ext cx="631914" cy="448973"/>
          </a:xfrm>
          <a:prstGeom prst="rect">
            <a:avLst/>
          </a:prstGeom>
        </p:spPr>
        <p:txBody>
          <a:bodyPr anchor="t" rtlCol="false" tIns="0" lIns="0" bIns="0" rIns="0">
            <a:spAutoFit/>
          </a:bodyPr>
          <a:lstStyle/>
          <a:p>
            <a:pPr algn="l" marL="0" indent="0" lvl="0">
              <a:lnSpc>
                <a:spcPts val="3603"/>
              </a:lnSpc>
            </a:pPr>
          </a:p>
        </p:txBody>
      </p:sp>
      <p:sp>
        <p:nvSpPr>
          <p:cNvPr name="TextBox 7" id="7"/>
          <p:cNvSpPr txBox="true"/>
          <p:nvPr/>
        </p:nvSpPr>
        <p:spPr>
          <a:xfrm rot="0">
            <a:off x="16396043" y="1269743"/>
            <a:ext cx="1428717" cy="248885"/>
          </a:xfrm>
          <a:prstGeom prst="rect">
            <a:avLst/>
          </a:prstGeom>
        </p:spPr>
        <p:txBody>
          <a:bodyPr anchor="t" rtlCol="false" tIns="0" lIns="0" bIns="0" rIns="0">
            <a:spAutoFit/>
          </a:bodyPr>
          <a:lstStyle/>
          <a:p>
            <a:pPr algn="r" marL="0" indent="0" lvl="0">
              <a:lnSpc>
                <a:spcPts val="2031"/>
              </a:lnSpc>
            </a:pPr>
            <a:r>
              <a:rPr lang="en-US" b="true" sz="1451">
                <a:solidFill>
                  <a:srgbClr val="475569"/>
                </a:solidFill>
                <a:latin typeface="Inter Medium"/>
                <a:ea typeface="Inter Medium"/>
                <a:cs typeface="Inter Medium"/>
                <a:sym typeface="Inter Medium"/>
              </a:rPr>
              <a:t>07</a:t>
            </a:r>
          </a:p>
        </p:txBody>
      </p:sp>
      <p:sp>
        <p:nvSpPr>
          <p:cNvPr name="TextBox 8" id="8"/>
          <p:cNvSpPr txBox="true"/>
          <p:nvPr/>
        </p:nvSpPr>
        <p:spPr>
          <a:xfrm rot="0">
            <a:off x="10349482" y="2833039"/>
            <a:ext cx="7824690" cy="5478173"/>
          </a:xfrm>
          <a:prstGeom prst="rect">
            <a:avLst/>
          </a:prstGeom>
        </p:spPr>
        <p:txBody>
          <a:bodyPr anchor="t" rtlCol="false" tIns="0" lIns="0" bIns="0" rIns="0">
            <a:spAutoFit/>
          </a:bodyPr>
          <a:lstStyle/>
          <a:p>
            <a:pPr algn="ctr" marL="555707" indent="-277854" lvl="1">
              <a:lnSpc>
                <a:spcPts val="3603"/>
              </a:lnSpc>
              <a:spcBef>
                <a:spcPct val="0"/>
              </a:spcBef>
              <a:buFont typeface="Arial"/>
              <a:buChar char="•"/>
            </a:pPr>
            <a:r>
              <a:rPr lang="en-US" b="true" sz="2573">
                <a:solidFill>
                  <a:srgbClr val="000000"/>
                </a:solidFill>
                <a:latin typeface="Inter Bold"/>
                <a:ea typeface="Inter Bold"/>
                <a:cs typeface="Inter Bold"/>
                <a:sym typeface="Inter Bold"/>
              </a:rPr>
              <a:t>User sets season, year, month, h</a:t>
            </a:r>
            <a:r>
              <a:rPr lang="en-US" b="true" sz="2573">
                <a:solidFill>
                  <a:srgbClr val="000000"/>
                </a:solidFill>
                <a:latin typeface="Inter Bold"/>
                <a:ea typeface="Inter Bold"/>
                <a:cs typeface="Inter Bold"/>
                <a:sym typeface="Inter Bold"/>
              </a:rPr>
              <a:t>our, weekday, weather and normalized temp, humidity, wind </a:t>
            </a:r>
          </a:p>
          <a:p>
            <a:pPr algn="ctr">
              <a:lnSpc>
                <a:spcPts val="3603"/>
              </a:lnSpc>
              <a:spcBef>
                <a:spcPct val="0"/>
              </a:spcBef>
            </a:pPr>
          </a:p>
          <a:p>
            <a:pPr algn="ctr" marL="555707" indent="-277854" lvl="1">
              <a:lnSpc>
                <a:spcPts val="3603"/>
              </a:lnSpc>
              <a:spcBef>
                <a:spcPct val="0"/>
              </a:spcBef>
              <a:buFont typeface="Arial"/>
              <a:buChar char="•"/>
            </a:pPr>
            <a:r>
              <a:rPr lang="en-US" b="true" sz="2573">
                <a:solidFill>
                  <a:srgbClr val="000000"/>
                </a:solidFill>
                <a:latin typeface="Inter Bold"/>
                <a:ea typeface="Inter Bold"/>
                <a:cs typeface="Inter Bold"/>
                <a:sym typeface="Inter Bold"/>
              </a:rPr>
              <a:t>One click calls predict_demand() </a:t>
            </a:r>
          </a:p>
          <a:p>
            <a:pPr algn="ctr">
              <a:lnSpc>
                <a:spcPts val="3603"/>
              </a:lnSpc>
              <a:spcBef>
                <a:spcPct val="0"/>
              </a:spcBef>
            </a:pPr>
          </a:p>
          <a:p>
            <a:pPr algn="ctr" marL="555707" indent="-277854" lvl="1">
              <a:lnSpc>
                <a:spcPts val="3603"/>
              </a:lnSpc>
              <a:spcBef>
                <a:spcPct val="0"/>
              </a:spcBef>
              <a:buFont typeface="Arial"/>
              <a:buChar char="•"/>
            </a:pPr>
            <a:r>
              <a:rPr lang="en-US" b="true" sz="2573">
                <a:solidFill>
                  <a:srgbClr val="000000"/>
                </a:solidFill>
                <a:latin typeface="Inter Bold"/>
                <a:ea typeface="Inter Bold"/>
                <a:cs typeface="Inter Bold"/>
                <a:sym typeface="Inter Bold"/>
              </a:rPr>
              <a:t>Output: 436 bikes for that hour </a:t>
            </a:r>
          </a:p>
          <a:p>
            <a:pPr algn="ctr">
              <a:lnSpc>
                <a:spcPts val="3603"/>
              </a:lnSpc>
              <a:spcBef>
                <a:spcPct val="0"/>
              </a:spcBef>
            </a:pPr>
          </a:p>
          <a:p>
            <a:pPr algn="ctr" marL="555707" indent="-277854" lvl="1">
              <a:lnSpc>
                <a:spcPts val="3603"/>
              </a:lnSpc>
              <a:spcBef>
                <a:spcPct val="0"/>
              </a:spcBef>
              <a:buFont typeface="Arial"/>
              <a:buChar char="•"/>
            </a:pPr>
            <a:r>
              <a:rPr lang="en-US" b="true" sz="2573">
                <a:solidFill>
                  <a:srgbClr val="000000"/>
                </a:solidFill>
                <a:latin typeface="Inter Bold"/>
                <a:ea typeface="Inter Bold"/>
                <a:cs typeface="Inter Bold"/>
                <a:sym typeface="Inter Bold"/>
              </a:rPr>
              <a:t>Next steps: fix input consistency checks, batch predictions, deploy publicly, drift monitoring </a:t>
            </a:r>
          </a:p>
          <a:p>
            <a:pPr algn="ctr">
              <a:lnSpc>
                <a:spcPts val="3603"/>
              </a:lnSpc>
              <a:spcBef>
                <a:spcPct val="0"/>
              </a:spcBef>
            </a:pPr>
          </a:p>
        </p:txBody>
      </p:sp>
    </p:spTree>
  </p:cSld>
  <p:clrMapOvr>
    <a:masterClrMapping/>
  </p:clrMapOvr>
  <p:transition spd="slow">
    <p:push dir="l"/>
  </p:transition>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21590" y="0"/>
                  </a:moveTo>
                  <a:lnTo>
                    <a:pt x="4795002" y="0"/>
                  </a:lnTo>
                  <a:cubicBezTo>
                    <a:pt x="4800728" y="0"/>
                    <a:pt x="4806220" y="2275"/>
                    <a:pt x="4810269" y="6324"/>
                  </a:cubicBezTo>
                  <a:cubicBezTo>
                    <a:pt x="4814318" y="10372"/>
                    <a:pt x="4816592" y="15864"/>
                    <a:pt x="4816592" y="21590"/>
                  </a:cubicBezTo>
                  <a:lnTo>
                    <a:pt x="4816592" y="2687743"/>
                  </a:lnTo>
                  <a:cubicBezTo>
                    <a:pt x="4816592" y="2699667"/>
                    <a:pt x="4806926" y="2709333"/>
                    <a:pt x="4795002" y="2709333"/>
                  </a:cubicBezTo>
                  <a:lnTo>
                    <a:pt x="21590" y="2709333"/>
                  </a:lnTo>
                  <a:cubicBezTo>
                    <a:pt x="9666" y="2709333"/>
                    <a:pt x="0" y="2699667"/>
                    <a:pt x="0" y="2687743"/>
                  </a:cubicBezTo>
                  <a:lnTo>
                    <a:pt x="0" y="21590"/>
                  </a:lnTo>
                  <a:cubicBezTo>
                    <a:pt x="0" y="9666"/>
                    <a:pt x="9666" y="0"/>
                    <a:pt x="21590" y="0"/>
                  </a:cubicBezTo>
                  <a:close/>
                </a:path>
              </a:pathLst>
            </a:custGeom>
            <a:solidFill>
              <a:srgbClr val="EEF4FA"/>
            </a:solidFill>
          </p:spPr>
        </p:sp>
        <p:sp>
          <p:nvSpPr>
            <p:cNvPr name="TextBox 4" id="4"/>
            <p:cNvSpPr txBox="true"/>
            <p:nvPr/>
          </p:nvSpPr>
          <p:spPr>
            <a:xfrm>
              <a:off x="0" y="-38100"/>
              <a:ext cx="4816593"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482919" y="128644"/>
            <a:ext cx="14222765" cy="900056"/>
          </a:xfrm>
          <a:custGeom>
            <a:avLst/>
            <a:gdLst/>
            <a:ahLst/>
            <a:cxnLst/>
            <a:rect r="r" b="b" t="t" l="l"/>
            <a:pathLst>
              <a:path h="900056" w="14222765">
                <a:moveTo>
                  <a:pt x="0" y="0"/>
                </a:moveTo>
                <a:lnTo>
                  <a:pt x="14222765" y="0"/>
                </a:lnTo>
                <a:lnTo>
                  <a:pt x="14222765" y="900056"/>
                </a:lnTo>
                <a:lnTo>
                  <a:pt x="0" y="900056"/>
                </a:lnTo>
                <a:lnTo>
                  <a:pt x="0" y="0"/>
                </a:lnTo>
                <a:close/>
              </a:path>
            </a:pathLst>
          </a:custGeom>
          <a:blipFill>
            <a:blip r:embed="rId2"/>
            <a:stretch>
              <a:fillRect l="0" t="-5046" r="-1280" b="-22988"/>
            </a:stretch>
          </a:blipFill>
        </p:spPr>
      </p:sp>
      <p:graphicFrame>
        <p:nvGraphicFramePr>
          <p:cNvPr name="Object 6" id="6"/>
          <p:cNvGraphicFramePr/>
          <p:nvPr/>
        </p:nvGraphicFramePr>
        <p:xfrm>
          <a:off x="8855914" y="2053472"/>
          <a:ext cx="9344025" cy="3771900"/>
        </p:xfrm>
        <a:graphic>
          <a:graphicData uri="http://schemas.openxmlformats.org/presentationml/2006/ole">
            <p:oleObj imgW="11201400" imgH="56388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7" id="7"/>
          <p:cNvSpPr txBox="true"/>
          <p:nvPr/>
        </p:nvSpPr>
        <p:spPr>
          <a:xfrm rot="0">
            <a:off x="482919" y="1945175"/>
            <a:ext cx="8071647" cy="7430899"/>
          </a:xfrm>
          <a:prstGeom prst="rect">
            <a:avLst/>
          </a:prstGeom>
        </p:spPr>
        <p:txBody>
          <a:bodyPr anchor="t" rtlCol="false" tIns="0" lIns="0" bIns="0" rIns="0">
            <a:spAutoFit/>
          </a:bodyPr>
          <a:lstStyle/>
          <a:p>
            <a:pPr algn="l" marL="484677" indent="-242339" lvl="1">
              <a:lnSpc>
                <a:spcPts val="3142"/>
              </a:lnSpc>
              <a:buFont typeface="Arial"/>
              <a:buChar char="•"/>
            </a:pPr>
            <a:r>
              <a:rPr lang="en-US" sz="2244">
                <a:solidFill>
                  <a:srgbClr val="0B4F5C"/>
                </a:solidFill>
                <a:latin typeface="Inter"/>
                <a:ea typeface="Inter"/>
                <a:cs typeface="Inter"/>
                <a:sym typeface="Inter"/>
              </a:rPr>
              <a:t>C</a:t>
            </a:r>
            <a:r>
              <a:rPr lang="en-US" sz="2244">
                <a:solidFill>
                  <a:srgbClr val="0B4F5C"/>
                </a:solidFill>
                <a:latin typeface="Inter"/>
                <a:ea typeface="Inter"/>
                <a:cs typeface="Inter"/>
                <a:sym typeface="Inter"/>
              </a:rPr>
              <a:t>onverted hourly demand predictions into recommended fleet levels using a safety margin.</a:t>
            </a:r>
          </a:p>
          <a:p>
            <a:pPr algn="l">
              <a:lnSpc>
                <a:spcPts val="3142"/>
              </a:lnSpc>
            </a:pPr>
          </a:p>
          <a:p>
            <a:pPr algn="l" marL="484677" indent="-242339" lvl="1">
              <a:lnSpc>
                <a:spcPts val="3142"/>
              </a:lnSpc>
              <a:buFont typeface="Arial"/>
              <a:buChar char="•"/>
            </a:pPr>
            <a:r>
              <a:rPr lang="en-US" sz="2244">
                <a:solidFill>
                  <a:srgbClr val="0B4F5C"/>
                </a:solidFill>
                <a:latin typeface="Inter"/>
                <a:ea typeface="Inter"/>
                <a:cs typeface="Inter"/>
                <a:sym typeface="Inter"/>
              </a:rPr>
              <a:t>Tested safety margins from 0%–40% in 5% intervals.</a:t>
            </a:r>
          </a:p>
          <a:p>
            <a:pPr algn="l">
              <a:lnSpc>
                <a:spcPts val="3142"/>
              </a:lnSpc>
            </a:pPr>
          </a:p>
          <a:p>
            <a:pPr algn="l" marL="484677" indent="-242339" lvl="1">
              <a:lnSpc>
                <a:spcPts val="3142"/>
              </a:lnSpc>
              <a:buFont typeface="Arial"/>
              <a:buChar char="•"/>
            </a:pPr>
            <a:r>
              <a:rPr lang="en-US" sz="2244">
                <a:solidFill>
                  <a:srgbClr val="0B4F5C"/>
                </a:solidFill>
                <a:latin typeface="Inter"/>
                <a:ea typeface="Inter"/>
                <a:cs typeface="Inter"/>
                <a:sym typeface="Inter"/>
              </a:rPr>
              <a:t>Classified each hour as UNDERSTOCK, OVERSTOCK, or OK by comparing recommended fleet with actual demand.</a:t>
            </a:r>
          </a:p>
          <a:p>
            <a:pPr algn="l">
              <a:lnSpc>
                <a:spcPts val="3142"/>
              </a:lnSpc>
            </a:pPr>
          </a:p>
          <a:p>
            <a:pPr algn="l" marL="484677" indent="-242339" lvl="1">
              <a:lnSpc>
                <a:spcPts val="3142"/>
              </a:lnSpc>
              <a:buFont typeface="Arial"/>
              <a:buChar char="•"/>
            </a:pPr>
            <a:r>
              <a:rPr lang="en-US" sz="2244">
                <a:solidFill>
                  <a:srgbClr val="0B4F5C"/>
                </a:solidFill>
                <a:latin typeface="Inter"/>
                <a:ea typeface="Inter"/>
                <a:cs typeface="Inter"/>
                <a:sym typeface="Inter"/>
              </a:rPr>
              <a:t>Calculated lost revenue, holding cost, and truck rebalancing cost.</a:t>
            </a:r>
          </a:p>
          <a:p>
            <a:pPr algn="l">
              <a:lnSpc>
                <a:spcPts val="3422"/>
              </a:lnSpc>
            </a:pPr>
          </a:p>
          <a:p>
            <a:pPr algn="l" marL="484677" indent="-242339" lvl="1">
              <a:lnSpc>
                <a:spcPts val="3142"/>
              </a:lnSpc>
              <a:buFont typeface="Arial"/>
              <a:buChar char="•"/>
            </a:pPr>
            <a:r>
              <a:rPr lang="en-US" sz="2244">
                <a:solidFill>
                  <a:srgbClr val="0B4F5C"/>
                </a:solidFill>
                <a:latin typeface="Inter"/>
                <a:ea typeface="Inter"/>
                <a:cs typeface="Inter"/>
                <a:sym typeface="Inter"/>
              </a:rPr>
              <a:t>Evaluated the strategy on a chronological holdout of 3,476 hours.</a:t>
            </a:r>
          </a:p>
          <a:p>
            <a:pPr algn="l">
              <a:lnSpc>
                <a:spcPts val="3142"/>
              </a:lnSpc>
            </a:pPr>
          </a:p>
          <a:p>
            <a:pPr algn="l" marL="484677" indent="-242339" lvl="1">
              <a:lnSpc>
                <a:spcPts val="3142"/>
              </a:lnSpc>
              <a:buFont typeface="Arial"/>
              <a:buChar char="•"/>
            </a:pPr>
            <a:r>
              <a:rPr lang="en-US" sz="2244">
                <a:solidFill>
                  <a:srgbClr val="0B4F5C"/>
                </a:solidFill>
                <a:latin typeface="Inter"/>
                <a:ea typeface="Inter"/>
                <a:cs typeface="Inter"/>
                <a:sym typeface="Inter"/>
              </a:rPr>
              <a:t>Higher safety margins reduce understock and potential lost revenue but increase holding and rebalancing costs.</a:t>
            </a:r>
          </a:p>
          <a:p>
            <a:pPr algn="l">
              <a:lnSpc>
                <a:spcPts val="3002"/>
              </a:lnSpc>
            </a:pPr>
          </a:p>
          <a:p>
            <a:pPr algn="l" marL="0" indent="0" lvl="0">
              <a:lnSpc>
                <a:spcPts val="3002"/>
              </a:lnSpc>
            </a:pPr>
          </a:p>
        </p:txBody>
      </p:sp>
      <p:sp>
        <p:nvSpPr>
          <p:cNvPr name="TextBox 8" id="8"/>
          <p:cNvSpPr txBox="true"/>
          <p:nvPr/>
        </p:nvSpPr>
        <p:spPr>
          <a:xfrm rot="0">
            <a:off x="9575994" y="7439338"/>
            <a:ext cx="8071647" cy="1147007"/>
          </a:xfrm>
          <a:prstGeom prst="rect">
            <a:avLst/>
          </a:prstGeom>
        </p:spPr>
        <p:txBody>
          <a:bodyPr anchor="t" rtlCol="false" tIns="0" lIns="0" bIns="0" rIns="0">
            <a:spAutoFit/>
          </a:bodyPr>
          <a:lstStyle/>
          <a:p>
            <a:pPr algn="ctr">
              <a:lnSpc>
                <a:spcPts val="2929"/>
              </a:lnSpc>
              <a:spcBef>
                <a:spcPct val="0"/>
              </a:spcBef>
            </a:pPr>
          </a:p>
          <a:p>
            <a:pPr algn="ctr">
              <a:lnSpc>
                <a:spcPts val="2929"/>
              </a:lnSpc>
              <a:spcBef>
                <a:spcPct val="0"/>
              </a:spcBef>
            </a:pPr>
            <a:r>
              <a:rPr lang="en-US" sz="2092" i="true">
                <a:solidFill>
                  <a:srgbClr val="808080"/>
                </a:solidFill>
                <a:latin typeface="Times New Roman MT Italics"/>
                <a:ea typeface="Times New Roman MT Italics"/>
                <a:cs typeface="Times New Roman MT Italics"/>
                <a:sym typeface="Times New Roman MT Italics"/>
              </a:rPr>
              <a:t>Dollar values are assumed scenario parameters ($3.50/ride, $0.75/idle bike-hour, $45/truck run), not dataset values</a:t>
            </a:r>
          </a:p>
        </p:txBody>
      </p:sp>
    </p:spTree>
  </p:cSld>
  <p:clrMapOvr>
    <a:masterClrMapping/>
  </p:clrMapOvr>
  <p:transition spd="slow">
    <p:push dir="l"/>
  </p:transition>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8744"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21590" y="0"/>
                  </a:moveTo>
                  <a:lnTo>
                    <a:pt x="4795002" y="0"/>
                  </a:lnTo>
                  <a:cubicBezTo>
                    <a:pt x="4800728" y="0"/>
                    <a:pt x="4806220" y="2275"/>
                    <a:pt x="4810269" y="6324"/>
                  </a:cubicBezTo>
                  <a:cubicBezTo>
                    <a:pt x="4814318" y="10372"/>
                    <a:pt x="4816592" y="15864"/>
                    <a:pt x="4816592" y="21590"/>
                  </a:cubicBezTo>
                  <a:lnTo>
                    <a:pt x="4816592" y="2687743"/>
                  </a:lnTo>
                  <a:cubicBezTo>
                    <a:pt x="4816592" y="2699667"/>
                    <a:pt x="4806926" y="2709333"/>
                    <a:pt x="4795002" y="2709333"/>
                  </a:cubicBezTo>
                  <a:lnTo>
                    <a:pt x="21590" y="2709333"/>
                  </a:lnTo>
                  <a:cubicBezTo>
                    <a:pt x="9666" y="2709333"/>
                    <a:pt x="0" y="2699667"/>
                    <a:pt x="0" y="2687743"/>
                  </a:cubicBezTo>
                  <a:lnTo>
                    <a:pt x="0" y="21590"/>
                  </a:lnTo>
                  <a:cubicBezTo>
                    <a:pt x="0" y="9666"/>
                    <a:pt x="9666" y="0"/>
                    <a:pt x="21590" y="0"/>
                  </a:cubicBezTo>
                  <a:close/>
                </a:path>
              </a:pathLst>
            </a:custGeom>
            <a:solidFill>
              <a:srgbClr val="EEF4FA"/>
            </a:solidFill>
          </p:spPr>
        </p:sp>
        <p:sp>
          <p:nvSpPr>
            <p:cNvPr name="TextBox 4" id="4"/>
            <p:cNvSpPr txBox="true"/>
            <p:nvPr/>
          </p:nvSpPr>
          <p:spPr>
            <a:xfrm>
              <a:off x="0" y="-38100"/>
              <a:ext cx="4816593"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392053" y="0"/>
            <a:ext cx="12763288" cy="8176997"/>
          </a:xfrm>
          <a:custGeom>
            <a:avLst/>
            <a:gdLst/>
            <a:ahLst/>
            <a:cxnLst/>
            <a:rect r="r" b="b" t="t" l="l"/>
            <a:pathLst>
              <a:path h="8176997" w="12763288">
                <a:moveTo>
                  <a:pt x="0" y="0"/>
                </a:moveTo>
                <a:lnTo>
                  <a:pt x="12763288" y="0"/>
                </a:lnTo>
                <a:lnTo>
                  <a:pt x="12763288" y="8176997"/>
                </a:lnTo>
                <a:lnTo>
                  <a:pt x="0" y="8176997"/>
                </a:lnTo>
                <a:lnTo>
                  <a:pt x="0" y="0"/>
                </a:lnTo>
                <a:close/>
              </a:path>
            </a:pathLst>
          </a:custGeom>
          <a:blipFill>
            <a:blip r:embed="rId2"/>
            <a:stretch>
              <a:fillRect l="0" t="-334" r="-609" b="-2133"/>
            </a:stretch>
          </a:blipFill>
        </p:spPr>
      </p:sp>
      <p:sp>
        <p:nvSpPr>
          <p:cNvPr name="Freeform 6" id="6"/>
          <p:cNvSpPr/>
          <p:nvPr/>
        </p:nvSpPr>
        <p:spPr>
          <a:xfrm flipH="false" flipV="false" rot="0">
            <a:off x="13274501" y="2100933"/>
            <a:ext cx="4974756" cy="709046"/>
          </a:xfrm>
          <a:custGeom>
            <a:avLst/>
            <a:gdLst/>
            <a:ahLst/>
            <a:cxnLst/>
            <a:rect r="r" b="b" t="t" l="l"/>
            <a:pathLst>
              <a:path h="709046" w="4974756">
                <a:moveTo>
                  <a:pt x="0" y="0"/>
                </a:moveTo>
                <a:lnTo>
                  <a:pt x="4974755" y="0"/>
                </a:lnTo>
                <a:lnTo>
                  <a:pt x="4974755" y="709046"/>
                </a:lnTo>
                <a:lnTo>
                  <a:pt x="0" y="709046"/>
                </a:lnTo>
                <a:lnTo>
                  <a:pt x="0" y="0"/>
                </a:lnTo>
                <a:close/>
              </a:path>
            </a:pathLst>
          </a:custGeom>
          <a:blipFill>
            <a:blip r:embed="rId3"/>
            <a:stretch>
              <a:fillRect l="0" t="0" r="0" b="0"/>
            </a:stretch>
          </a:blipFill>
        </p:spPr>
      </p:sp>
      <p:sp>
        <p:nvSpPr>
          <p:cNvPr name="Freeform 7" id="7"/>
          <p:cNvSpPr/>
          <p:nvPr/>
        </p:nvSpPr>
        <p:spPr>
          <a:xfrm flipH="false" flipV="false" rot="0">
            <a:off x="13274501" y="1028700"/>
            <a:ext cx="5013499" cy="714568"/>
          </a:xfrm>
          <a:custGeom>
            <a:avLst/>
            <a:gdLst/>
            <a:ahLst/>
            <a:cxnLst/>
            <a:rect r="r" b="b" t="t" l="l"/>
            <a:pathLst>
              <a:path h="714568" w="5013499">
                <a:moveTo>
                  <a:pt x="0" y="0"/>
                </a:moveTo>
                <a:lnTo>
                  <a:pt x="5013499" y="0"/>
                </a:lnTo>
                <a:lnTo>
                  <a:pt x="5013499" y="714568"/>
                </a:lnTo>
                <a:lnTo>
                  <a:pt x="0" y="714568"/>
                </a:lnTo>
                <a:lnTo>
                  <a:pt x="0" y="0"/>
                </a:lnTo>
                <a:close/>
              </a:path>
            </a:pathLst>
          </a:custGeom>
          <a:blipFill>
            <a:blip r:embed="rId4"/>
            <a:stretch>
              <a:fillRect l="0" t="0" r="0" b="0"/>
            </a:stretch>
          </a:blipFill>
        </p:spPr>
      </p:sp>
      <p:sp>
        <p:nvSpPr>
          <p:cNvPr name="TextBox 8" id="8"/>
          <p:cNvSpPr txBox="true"/>
          <p:nvPr/>
        </p:nvSpPr>
        <p:spPr>
          <a:xfrm rot="0">
            <a:off x="1508410" y="8356706"/>
            <a:ext cx="15271180" cy="1930294"/>
          </a:xfrm>
          <a:prstGeom prst="rect">
            <a:avLst/>
          </a:prstGeom>
        </p:spPr>
        <p:txBody>
          <a:bodyPr anchor="t" rtlCol="false" tIns="0" lIns="0" bIns="0" rIns="0">
            <a:spAutoFit/>
          </a:bodyPr>
          <a:lstStyle/>
          <a:p>
            <a:pPr algn="ctr">
              <a:lnSpc>
                <a:spcPts val="3855"/>
              </a:lnSpc>
            </a:pPr>
            <a:r>
              <a:rPr lang="en-US" b="true" sz="2754" u="sng">
                <a:solidFill>
                  <a:srgbClr val="0B4F5C"/>
                </a:solidFill>
                <a:latin typeface="Oswald Bold"/>
                <a:ea typeface="Oswald Bold"/>
                <a:cs typeface="Oswald Bold"/>
                <a:sym typeface="Oswald Bold"/>
              </a:rPr>
              <a:t>BUSINESS DECISION</a:t>
            </a:r>
          </a:p>
          <a:p>
            <a:pPr algn="ctr">
              <a:lnSpc>
                <a:spcPts val="3855"/>
              </a:lnSpc>
            </a:pPr>
            <a:r>
              <a:rPr lang="en-US" b="true" sz="2754">
                <a:solidFill>
                  <a:srgbClr val="0B4F5C"/>
                </a:solidFill>
                <a:latin typeface="Oswald Bold"/>
                <a:ea typeface="Oswald Bold"/>
                <a:cs typeface="Oswald Bold"/>
                <a:sym typeface="Oswald Bold"/>
              </a:rPr>
              <a:t>Use a 35% safety margin when converting demand forecasts into fleet recommendations, as it produced</a:t>
            </a:r>
          </a:p>
          <a:p>
            <a:pPr algn="ctr">
              <a:lnSpc>
                <a:spcPts val="3855"/>
              </a:lnSpc>
            </a:pPr>
            <a:r>
              <a:rPr lang="en-US" b="true" sz="2754">
                <a:solidFill>
                  <a:srgbClr val="0B4F5C"/>
                </a:solidFill>
                <a:latin typeface="Oswald Bold"/>
                <a:ea typeface="Oswald Bold"/>
                <a:cs typeface="Oswald Bold"/>
                <a:sym typeface="Oswald Bold"/>
              </a:rPr>
              <a:t> the lowest modeled operational cost of $358K among the tested scenarios.</a:t>
            </a:r>
          </a:p>
          <a:p>
            <a:pPr algn="ctr">
              <a:lnSpc>
                <a:spcPts val="3855"/>
              </a:lnSpc>
              <a:spcBef>
                <a:spcPct val="0"/>
              </a:spcBef>
            </a:pPr>
          </a:p>
        </p:txBody>
      </p:sp>
    </p:spTree>
  </p:cSld>
  <p:clrMapOvr>
    <a:masterClrMapping/>
  </p:clrMapOvr>
  <p:transition spd="slow">
    <p:push dir="l"/>
  </p:transition>
</p:sld>
</file>

<file path=ppt/slides/slide1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59117" y="353306"/>
            <a:ext cx="17639848" cy="9580389"/>
            <a:chOff x="0" y="0"/>
            <a:chExt cx="4645886" cy="2523230"/>
          </a:xfrm>
        </p:grpSpPr>
        <p:sp>
          <p:nvSpPr>
            <p:cNvPr name="Freeform 3" id="3"/>
            <p:cNvSpPr/>
            <p:nvPr/>
          </p:nvSpPr>
          <p:spPr>
            <a:xfrm flipH="false" flipV="false" rot="0">
              <a:off x="0" y="0"/>
              <a:ext cx="4645886" cy="2523230"/>
            </a:xfrm>
            <a:custGeom>
              <a:avLst/>
              <a:gdLst/>
              <a:ahLst/>
              <a:cxnLst/>
              <a:rect r="r" b="b" t="t" l="l"/>
              <a:pathLst>
                <a:path h="2523230" w="4645886">
                  <a:moveTo>
                    <a:pt x="22383" y="0"/>
                  </a:moveTo>
                  <a:lnTo>
                    <a:pt x="4623503" y="0"/>
                  </a:lnTo>
                  <a:cubicBezTo>
                    <a:pt x="4629439" y="0"/>
                    <a:pt x="4635132" y="2358"/>
                    <a:pt x="4639330" y="6556"/>
                  </a:cubicBezTo>
                  <a:cubicBezTo>
                    <a:pt x="4643527" y="10754"/>
                    <a:pt x="4645886" y="16447"/>
                    <a:pt x="4645886" y="22383"/>
                  </a:cubicBezTo>
                  <a:lnTo>
                    <a:pt x="4645886" y="2500847"/>
                  </a:lnTo>
                  <a:cubicBezTo>
                    <a:pt x="4645886" y="2506783"/>
                    <a:pt x="4643527" y="2512476"/>
                    <a:pt x="4639330" y="2516674"/>
                  </a:cubicBezTo>
                  <a:cubicBezTo>
                    <a:pt x="4635132" y="2520872"/>
                    <a:pt x="4629439" y="2523230"/>
                    <a:pt x="4623503" y="2523230"/>
                  </a:cubicBezTo>
                  <a:lnTo>
                    <a:pt x="22383" y="2523230"/>
                  </a:lnTo>
                  <a:cubicBezTo>
                    <a:pt x="16447" y="2523230"/>
                    <a:pt x="10754" y="2520872"/>
                    <a:pt x="6556" y="2516674"/>
                  </a:cubicBezTo>
                  <a:cubicBezTo>
                    <a:pt x="2358" y="2512476"/>
                    <a:pt x="0" y="2506783"/>
                    <a:pt x="0" y="2500847"/>
                  </a:cubicBezTo>
                  <a:lnTo>
                    <a:pt x="0" y="22383"/>
                  </a:lnTo>
                  <a:cubicBezTo>
                    <a:pt x="0" y="16447"/>
                    <a:pt x="2358" y="10754"/>
                    <a:pt x="6556" y="6556"/>
                  </a:cubicBezTo>
                  <a:cubicBezTo>
                    <a:pt x="10754" y="2358"/>
                    <a:pt x="16447" y="0"/>
                    <a:pt x="22383" y="0"/>
                  </a:cubicBezTo>
                  <a:close/>
                </a:path>
              </a:pathLst>
            </a:custGeom>
            <a:solidFill>
              <a:srgbClr val="EEF4FA"/>
            </a:solidFill>
          </p:spPr>
        </p:sp>
        <p:sp>
          <p:nvSpPr>
            <p:cNvPr name="TextBox 4" id="4"/>
            <p:cNvSpPr txBox="true"/>
            <p:nvPr/>
          </p:nvSpPr>
          <p:spPr>
            <a:xfrm>
              <a:off x="0" y="-38100"/>
              <a:ext cx="4645886" cy="256133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818547" y="767344"/>
            <a:ext cx="16440753" cy="966216"/>
          </a:xfrm>
          <a:prstGeom prst="rect">
            <a:avLst/>
          </a:prstGeom>
        </p:spPr>
        <p:txBody>
          <a:bodyPr anchor="t" rtlCol="false" tIns="0" lIns="0" bIns="0" rIns="0">
            <a:spAutoFit/>
          </a:bodyPr>
          <a:lstStyle/>
          <a:p>
            <a:pPr algn="ctr" marL="0" indent="0" lvl="0">
              <a:lnSpc>
                <a:spcPts val="7226"/>
              </a:lnSpc>
            </a:pPr>
            <a:r>
              <a:rPr lang="en-US" b="true" sz="7299">
                <a:solidFill>
                  <a:srgbClr val="0F172A"/>
                </a:solidFill>
                <a:latin typeface="DM Sans Bold"/>
                <a:ea typeface="DM Sans Bold"/>
                <a:cs typeface="DM Sans Bold"/>
                <a:sym typeface="DM Sans Bold"/>
              </a:rPr>
              <a:t>Challenges &amp; </a:t>
            </a:r>
            <a:r>
              <a:rPr lang="en-US" b="true" sz="7299">
                <a:solidFill>
                  <a:srgbClr val="0F172A"/>
                </a:solidFill>
                <a:latin typeface="DM Sans Bold"/>
                <a:ea typeface="DM Sans Bold"/>
                <a:cs typeface="DM Sans Bold"/>
                <a:sym typeface="DM Sans Bold"/>
              </a:rPr>
              <a:t>Improvements</a:t>
            </a:r>
          </a:p>
        </p:txBody>
      </p:sp>
      <p:sp>
        <p:nvSpPr>
          <p:cNvPr name="TextBox 6" id="6"/>
          <p:cNvSpPr txBox="true"/>
          <p:nvPr/>
        </p:nvSpPr>
        <p:spPr>
          <a:xfrm rot="0">
            <a:off x="638807" y="6361401"/>
            <a:ext cx="17360158" cy="2675912"/>
          </a:xfrm>
          <a:prstGeom prst="rect">
            <a:avLst/>
          </a:prstGeom>
        </p:spPr>
        <p:txBody>
          <a:bodyPr anchor="t" rtlCol="false" tIns="0" lIns="0" bIns="0" rIns="0">
            <a:spAutoFit/>
          </a:bodyPr>
          <a:lstStyle/>
          <a:p>
            <a:pPr algn="l">
              <a:lnSpc>
                <a:spcPts val="3919"/>
              </a:lnSpc>
            </a:pPr>
            <a:r>
              <a:rPr lang="en-US" sz="2799" b="true">
                <a:solidFill>
                  <a:srgbClr val="0F172A"/>
                </a:solidFill>
                <a:latin typeface="Inter Bold"/>
                <a:ea typeface="Inter Bold"/>
                <a:cs typeface="Inter Bold"/>
                <a:sym typeface="Inter Bold"/>
              </a:rPr>
              <a:t>What We'd Improve</a:t>
            </a:r>
          </a:p>
          <a:p>
            <a:pPr algn="l" marL="539371" indent="-269685" lvl="1">
              <a:lnSpc>
                <a:spcPts val="3497"/>
              </a:lnSpc>
              <a:buFont typeface="Arial"/>
              <a:buChar char="•"/>
            </a:pPr>
            <a:r>
              <a:rPr lang="en-US" sz="2498">
                <a:solidFill>
                  <a:srgbClr val="0F172A"/>
                </a:solidFill>
                <a:latin typeface="Inter"/>
                <a:ea typeface="Inter"/>
                <a:cs typeface="Inter"/>
                <a:sym typeface="Inter"/>
              </a:rPr>
              <a:t>Use real-time or forecasted weather data instead of only historical weather.</a:t>
            </a:r>
          </a:p>
          <a:p>
            <a:pPr algn="l" marL="539371" indent="-269685" lvl="1">
              <a:lnSpc>
                <a:spcPts val="3497"/>
              </a:lnSpc>
              <a:spcBef>
                <a:spcPct val="0"/>
              </a:spcBef>
              <a:buFont typeface="Arial"/>
              <a:buChar char="•"/>
            </a:pPr>
            <a:r>
              <a:rPr lang="en-US" sz="2498">
                <a:solidFill>
                  <a:srgbClr val="0F172A"/>
                </a:solidFill>
                <a:latin typeface="Inter"/>
                <a:ea typeface="Inter"/>
                <a:cs typeface="Inter"/>
                <a:sym typeface="Inter"/>
              </a:rPr>
              <a:t>Extend to stati</a:t>
            </a:r>
            <a:r>
              <a:rPr lang="en-US" sz="2498">
                <a:solidFill>
                  <a:srgbClr val="0F172A"/>
                </a:solidFill>
                <a:latin typeface="Inter"/>
                <a:ea typeface="Inter"/>
                <a:cs typeface="Inter"/>
                <a:sym typeface="Inter"/>
              </a:rPr>
              <a:t>on-level demand forecasting instead of city-wide totals.</a:t>
            </a:r>
          </a:p>
          <a:p>
            <a:pPr algn="l" marL="539371" indent="-269685" lvl="1">
              <a:lnSpc>
                <a:spcPts val="3497"/>
              </a:lnSpc>
              <a:spcBef>
                <a:spcPct val="0"/>
              </a:spcBef>
              <a:buFont typeface="Arial"/>
              <a:buChar char="•"/>
            </a:pPr>
            <a:r>
              <a:rPr lang="en-US" sz="2498">
                <a:solidFill>
                  <a:srgbClr val="0F172A"/>
                </a:solidFill>
                <a:latin typeface="Inter"/>
                <a:ea typeface="Inter"/>
                <a:cs typeface="Inter"/>
                <a:sym typeface="Inter"/>
              </a:rPr>
              <a:t>Replace assumed cost parameters with actual operating costs from a real fleet operator.</a:t>
            </a:r>
          </a:p>
          <a:p>
            <a:pPr algn="l" marL="539371" indent="-269685" lvl="1">
              <a:lnSpc>
                <a:spcPts val="3497"/>
              </a:lnSpc>
              <a:spcBef>
                <a:spcPct val="0"/>
              </a:spcBef>
              <a:buFont typeface="Arial"/>
              <a:buChar char="•"/>
            </a:pPr>
            <a:r>
              <a:rPr lang="en-US" sz="2498">
                <a:solidFill>
                  <a:srgbClr val="0F172A"/>
                </a:solidFill>
                <a:latin typeface="Inter"/>
                <a:ea typeface="Inter"/>
                <a:cs typeface="Inter"/>
                <a:sym typeface="Inter"/>
              </a:rPr>
              <a:t>Test additional algorithms (e.g. gradient boosting) against the Random Forest baseline.</a:t>
            </a:r>
          </a:p>
          <a:p>
            <a:pPr algn="l">
              <a:lnSpc>
                <a:spcPts val="3497"/>
              </a:lnSpc>
              <a:spcBef>
                <a:spcPct val="0"/>
              </a:spcBef>
            </a:pPr>
          </a:p>
        </p:txBody>
      </p:sp>
      <p:sp>
        <p:nvSpPr>
          <p:cNvPr name="TextBox 7" id="7"/>
          <p:cNvSpPr txBox="true"/>
          <p:nvPr/>
        </p:nvSpPr>
        <p:spPr>
          <a:xfrm rot="0">
            <a:off x="492447" y="1990039"/>
            <a:ext cx="17506518" cy="4428512"/>
          </a:xfrm>
          <a:prstGeom prst="rect">
            <a:avLst/>
          </a:prstGeom>
        </p:spPr>
        <p:txBody>
          <a:bodyPr anchor="t" rtlCol="false" tIns="0" lIns="0" bIns="0" rIns="0">
            <a:spAutoFit/>
          </a:bodyPr>
          <a:lstStyle/>
          <a:p>
            <a:pPr algn="l">
              <a:lnSpc>
                <a:spcPts val="3919"/>
              </a:lnSpc>
            </a:pPr>
            <a:r>
              <a:rPr lang="en-US" sz="2799" b="true">
                <a:solidFill>
                  <a:srgbClr val="000000"/>
                </a:solidFill>
                <a:latin typeface="Inter Bold"/>
                <a:ea typeface="Inter Bold"/>
                <a:cs typeface="Inter Bold"/>
                <a:sym typeface="Inter Bold"/>
              </a:rPr>
              <a:t>Challenges Faced: </a:t>
            </a:r>
          </a:p>
          <a:p>
            <a:pPr algn="l" marL="539371" indent="-269685" lvl="1">
              <a:lnSpc>
                <a:spcPts val="3497"/>
              </a:lnSpc>
              <a:spcBef>
                <a:spcPct val="0"/>
              </a:spcBef>
              <a:buFont typeface="Arial"/>
              <a:buChar char="•"/>
            </a:pPr>
            <a:r>
              <a:rPr lang="en-US" sz="2498">
                <a:solidFill>
                  <a:srgbClr val="000000"/>
                </a:solidFill>
                <a:latin typeface="Inter"/>
                <a:ea typeface="Inter"/>
                <a:cs typeface="Inter"/>
                <a:sym typeface="Inter"/>
              </a:rPr>
              <a:t>Computationally sl</a:t>
            </a:r>
            <a:r>
              <a:rPr lang="en-US" sz="2498">
                <a:solidFill>
                  <a:srgbClr val="000000"/>
                </a:solidFill>
                <a:latin typeface="Inter"/>
                <a:ea typeface="Inter"/>
                <a:cs typeface="Inter"/>
                <a:sym typeface="Inter"/>
              </a:rPr>
              <a:t>ow to run GridSearchCV (12 hyperparameter combinations × 5 time-series folds) in Google Colab — resolved by adjusting parallel job settings.</a:t>
            </a:r>
          </a:p>
          <a:p>
            <a:pPr algn="l" marL="539371" indent="-269685" lvl="1">
              <a:lnSpc>
                <a:spcPts val="3497"/>
              </a:lnSpc>
              <a:spcBef>
                <a:spcPct val="0"/>
              </a:spcBef>
              <a:buFont typeface="Arial"/>
              <a:buChar char="•"/>
            </a:pPr>
            <a:r>
              <a:rPr lang="en-US" sz="2498">
                <a:solidFill>
                  <a:srgbClr val="000000"/>
                </a:solidFill>
                <a:latin typeface="Inter"/>
                <a:ea typeface="Inter"/>
                <a:cs typeface="Inter"/>
                <a:sym typeface="Inter"/>
              </a:rPr>
              <a:t>Weather category imbalance: Heavy Rain/Snow had only 3 records out of 17,379 hours, making that group unreliable to analyze.</a:t>
            </a:r>
          </a:p>
          <a:p>
            <a:pPr algn="l" marL="539371" indent="-269685" lvl="1">
              <a:lnSpc>
                <a:spcPts val="3497"/>
              </a:lnSpc>
              <a:spcBef>
                <a:spcPct val="0"/>
              </a:spcBef>
              <a:buFont typeface="Arial"/>
              <a:buChar char="•"/>
            </a:pPr>
            <a:r>
              <a:rPr lang="en-US" sz="2498">
                <a:solidFill>
                  <a:srgbClr val="000000"/>
                </a:solidFill>
                <a:latin typeface="Inter"/>
                <a:ea typeface="Inter"/>
                <a:cs typeface="Inter"/>
                <a:sym typeface="Inter"/>
              </a:rPr>
              <a:t>Business cost parameters (revenue per ride, holding cost, truck cost) aren't in the dataset — had to be reasonably assumed rather than measured.</a:t>
            </a:r>
          </a:p>
          <a:p>
            <a:pPr algn="l" marL="539371" indent="-269685" lvl="1">
              <a:lnSpc>
                <a:spcPts val="3497"/>
              </a:lnSpc>
              <a:spcBef>
                <a:spcPct val="0"/>
              </a:spcBef>
              <a:buFont typeface="Arial"/>
              <a:buChar char="•"/>
            </a:pPr>
            <a:r>
              <a:rPr lang="en-US" sz="2498">
                <a:solidFill>
                  <a:srgbClr val="000000"/>
                </a:solidFill>
                <a:latin typeface="Inter"/>
                <a:ea typeface="Inter"/>
                <a:cs typeface="Inter"/>
                <a:sym typeface="Inter"/>
              </a:rPr>
              <a:t>Coordinating 6 team members' work (data, EDA, modeling, pipeline, decision logic, dashboard) into one consistent, non-duplicated pipeline.</a:t>
            </a:r>
          </a:p>
          <a:p>
            <a:pPr algn="ctr">
              <a:lnSpc>
                <a:spcPts val="3497"/>
              </a:lnSpc>
              <a:spcBef>
                <a:spcPct val="0"/>
              </a:spcBef>
            </a:pPr>
          </a:p>
        </p:txBody>
      </p:sp>
    </p:spTree>
  </p:cSld>
  <p:clrMapOvr>
    <a:masterClrMapping/>
  </p:clrMapOvr>
  <p:transition spd="slow">
    <p:push dir="l"/>
  </p:transition>
</p:sld>
</file>

<file path=ppt/slides/slide1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59117" y="353306"/>
            <a:ext cx="17639848" cy="9580389"/>
            <a:chOff x="0" y="0"/>
            <a:chExt cx="4645886" cy="2523230"/>
          </a:xfrm>
        </p:grpSpPr>
        <p:sp>
          <p:nvSpPr>
            <p:cNvPr name="Freeform 3" id="3"/>
            <p:cNvSpPr/>
            <p:nvPr/>
          </p:nvSpPr>
          <p:spPr>
            <a:xfrm flipH="false" flipV="false" rot="0">
              <a:off x="0" y="0"/>
              <a:ext cx="4645886" cy="2523230"/>
            </a:xfrm>
            <a:custGeom>
              <a:avLst/>
              <a:gdLst/>
              <a:ahLst/>
              <a:cxnLst/>
              <a:rect r="r" b="b" t="t" l="l"/>
              <a:pathLst>
                <a:path h="2523230" w="4645886">
                  <a:moveTo>
                    <a:pt x="22383" y="0"/>
                  </a:moveTo>
                  <a:lnTo>
                    <a:pt x="4623503" y="0"/>
                  </a:lnTo>
                  <a:cubicBezTo>
                    <a:pt x="4629439" y="0"/>
                    <a:pt x="4635132" y="2358"/>
                    <a:pt x="4639330" y="6556"/>
                  </a:cubicBezTo>
                  <a:cubicBezTo>
                    <a:pt x="4643527" y="10754"/>
                    <a:pt x="4645886" y="16447"/>
                    <a:pt x="4645886" y="22383"/>
                  </a:cubicBezTo>
                  <a:lnTo>
                    <a:pt x="4645886" y="2500847"/>
                  </a:lnTo>
                  <a:cubicBezTo>
                    <a:pt x="4645886" y="2506783"/>
                    <a:pt x="4643527" y="2512476"/>
                    <a:pt x="4639330" y="2516674"/>
                  </a:cubicBezTo>
                  <a:cubicBezTo>
                    <a:pt x="4635132" y="2520872"/>
                    <a:pt x="4629439" y="2523230"/>
                    <a:pt x="4623503" y="2523230"/>
                  </a:cubicBezTo>
                  <a:lnTo>
                    <a:pt x="22383" y="2523230"/>
                  </a:lnTo>
                  <a:cubicBezTo>
                    <a:pt x="16447" y="2523230"/>
                    <a:pt x="10754" y="2520872"/>
                    <a:pt x="6556" y="2516674"/>
                  </a:cubicBezTo>
                  <a:cubicBezTo>
                    <a:pt x="2358" y="2512476"/>
                    <a:pt x="0" y="2506783"/>
                    <a:pt x="0" y="2500847"/>
                  </a:cubicBezTo>
                  <a:lnTo>
                    <a:pt x="0" y="22383"/>
                  </a:lnTo>
                  <a:cubicBezTo>
                    <a:pt x="0" y="16447"/>
                    <a:pt x="2358" y="10754"/>
                    <a:pt x="6556" y="6556"/>
                  </a:cubicBezTo>
                  <a:cubicBezTo>
                    <a:pt x="10754" y="2358"/>
                    <a:pt x="16447" y="0"/>
                    <a:pt x="22383" y="0"/>
                  </a:cubicBezTo>
                  <a:close/>
                </a:path>
              </a:pathLst>
            </a:custGeom>
            <a:solidFill>
              <a:srgbClr val="EEF4FA"/>
            </a:solidFill>
          </p:spPr>
        </p:sp>
        <p:sp>
          <p:nvSpPr>
            <p:cNvPr name="TextBox 4" id="4"/>
            <p:cNvSpPr txBox="true"/>
            <p:nvPr/>
          </p:nvSpPr>
          <p:spPr>
            <a:xfrm>
              <a:off x="0" y="-38100"/>
              <a:ext cx="4645886" cy="256133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1527184" y="575681"/>
            <a:ext cx="15303715" cy="666750"/>
          </a:xfrm>
          <a:prstGeom prst="rect">
            <a:avLst/>
          </a:prstGeom>
        </p:spPr>
        <p:txBody>
          <a:bodyPr anchor="t" rtlCol="false" tIns="0" lIns="0" bIns="0" rIns="0">
            <a:spAutoFit/>
          </a:bodyPr>
          <a:lstStyle/>
          <a:p>
            <a:pPr algn="l" marL="0" indent="0" lvl="0">
              <a:lnSpc>
                <a:spcPts val="4950"/>
              </a:lnSpc>
            </a:pPr>
            <a:r>
              <a:rPr lang="en-US" b="true" sz="5000">
                <a:solidFill>
                  <a:srgbClr val="0F172A"/>
                </a:solidFill>
                <a:latin typeface="DM Sans Bold"/>
                <a:ea typeface="DM Sans Bold"/>
                <a:cs typeface="DM Sans Bold"/>
                <a:sym typeface="DM Sans Bold"/>
              </a:rPr>
              <a:t>Team Contribution, Learning &amp; </a:t>
            </a:r>
            <a:r>
              <a:rPr lang="en-US" b="true" sz="5000">
                <a:solidFill>
                  <a:srgbClr val="0F172A"/>
                </a:solidFill>
                <a:latin typeface="DM Sans Bold"/>
                <a:ea typeface="DM Sans Bold"/>
                <a:cs typeface="DM Sans Bold"/>
                <a:sym typeface="DM Sans Bold"/>
              </a:rPr>
              <a:t>Conclusion</a:t>
            </a:r>
          </a:p>
        </p:txBody>
      </p:sp>
      <p:sp>
        <p:nvSpPr>
          <p:cNvPr name="TextBox 6" id="6"/>
          <p:cNvSpPr txBox="true"/>
          <p:nvPr/>
        </p:nvSpPr>
        <p:spPr>
          <a:xfrm rot="0">
            <a:off x="0" y="9357544"/>
            <a:ext cx="11178523" cy="457246"/>
          </a:xfrm>
          <a:prstGeom prst="rect">
            <a:avLst/>
          </a:prstGeom>
        </p:spPr>
        <p:txBody>
          <a:bodyPr anchor="t" rtlCol="false" tIns="0" lIns="0" bIns="0" rIns="0">
            <a:spAutoFit/>
          </a:bodyPr>
          <a:lstStyle/>
          <a:p>
            <a:pPr algn="r" marL="0" indent="0" lvl="0">
              <a:lnSpc>
                <a:spcPts val="3762"/>
              </a:lnSpc>
            </a:pPr>
            <a:r>
              <a:rPr lang="en-US" b="true" sz="2687">
                <a:solidFill>
                  <a:srgbClr val="475569"/>
                </a:solidFill>
                <a:latin typeface="Inter Bold"/>
                <a:ea typeface="Inter Bold"/>
                <a:cs typeface="Inter Bold"/>
                <a:sym typeface="Inter Bold"/>
              </a:rPr>
              <a:t>Github link: github.com/greshmaarajesh/ML-Final-Lab-Group-11</a:t>
            </a:r>
          </a:p>
        </p:txBody>
      </p:sp>
      <p:sp>
        <p:nvSpPr>
          <p:cNvPr name="TextBox 7" id="7"/>
          <p:cNvSpPr txBox="true"/>
          <p:nvPr/>
        </p:nvSpPr>
        <p:spPr>
          <a:xfrm rot="0">
            <a:off x="552235" y="4537120"/>
            <a:ext cx="17446730" cy="2501265"/>
          </a:xfrm>
          <a:prstGeom prst="rect">
            <a:avLst/>
          </a:prstGeom>
        </p:spPr>
        <p:txBody>
          <a:bodyPr anchor="t" rtlCol="false" tIns="0" lIns="0" bIns="0" rIns="0">
            <a:spAutoFit/>
          </a:bodyPr>
          <a:lstStyle/>
          <a:p>
            <a:pPr algn="l">
              <a:lnSpc>
                <a:spcPts val="3359"/>
              </a:lnSpc>
            </a:pPr>
            <a:r>
              <a:rPr lang="en-US" sz="2400" b="true">
                <a:solidFill>
                  <a:srgbClr val="000000"/>
                </a:solidFill>
                <a:latin typeface="Inter Bold"/>
                <a:ea typeface="Inter Bold"/>
                <a:cs typeface="Inter Bold"/>
                <a:sym typeface="Inter Bold"/>
              </a:rPr>
              <a:t>Key Learnings:</a:t>
            </a:r>
          </a:p>
          <a:p>
            <a:pPr algn="l" marL="518160" indent="-259080" lvl="1">
              <a:lnSpc>
                <a:spcPts val="3359"/>
              </a:lnSpc>
              <a:spcBef>
                <a:spcPct val="0"/>
              </a:spcBef>
              <a:buFont typeface="Arial"/>
              <a:buChar char="•"/>
            </a:pPr>
            <a:r>
              <a:rPr lang="en-US" sz="2400">
                <a:solidFill>
                  <a:srgbClr val="000000"/>
                </a:solidFill>
                <a:latin typeface="Inter"/>
                <a:ea typeface="Inter"/>
                <a:cs typeface="Inter"/>
                <a:sym typeface="Inter"/>
              </a:rPr>
              <a:t>Technical: end-t</a:t>
            </a:r>
            <a:r>
              <a:rPr lang="en-US" sz="2400">
                <a:solidFill>
                  <a:srgbClr val="000000"/>
                </a:solidFill>
                <a:latin typeface="Inter"/>
                <a:ea typeface="Inter"/>
                <a:cs typeface="Inter"/>
                <a:sym typeface="Inter"/>
              </a:rPr>
              <a:t>o-end ML pipeline — cleaning, EDA, feature engineering, model tuning, evaluation, deployment logic.</a:t>
            </a:r>
          </a:p>
          <a:p>
            <a:pPr algn="l" marL="518160" indent="-259080" lvl="1">
              <a:lnSpc>
                <a:spcPts val="3359"/>
              </a:lnSpc>
              <a:spcBef>
                <a:spcPct val="0"/>
              </a:spcBef>
              <a:buFont typeface="Arial"/>
              <a:buChar char="•"/>
            </a:pPr>
            <a:r>
              <a:rPr lang="en-US" sz="2400">
                <a:solidFill>
                  <a:srgbClr val="000000"/>
                </a:solidFill>
                <a:latin typeface="Inter"/>
                <a:ea typeface="Inter"/>
                <a:cs typeface="Inter"/>
                <a:sym typeface="Inter"/>
              </a:rPr>
              <a:t>Practical: chronological (not random) splits matter for time-series data to avoid leakage.</a:t>
            </a:r>
          </a:p>
          <a:p>
            <a:pPr algn="l" marL="518160" indent="-259080" lvl="1">
              <a:lnSpc>
                <a:spcPts val="3359"/>
              </a:lnSpc>
              <a:spcBef>
                <a:spcPct val="0"/>
              </a:spcBef>
              <a:buFont typeface="Arial"/>
              <a:buChar char="•"/>
            </a:pPr>
            <a:r>
              <a:rPr lang="en-US" sz="2400">
                <a:solidFill>
                  <a:srgbClr val="000000"/>
                </a:solidFill>
                <a:latin typeface="Inter"/>
                <a:ea typeface="Inter"/>
                <a:cs typeface="Inter"/>
                <a:sym typeface="Inter"/>
              </a:rPr>
              <a:t>Business: translating model predictions into a cost-based operational decision (safety margin).</a:t>
            </a:r>
          </a:p>
          <a:p>
            <a:pPr algn="l" marL="518160" indent="-259080" lvl="1">
              <a:lnSpc>
                <a:spcPts val="3359"/>
              </a:lnSpc>
              <a:spcBef>
                <a:spcPct val="0"/>
              </a:spcBef>
              <a:buFont typeface="Arial"/>
              <a:buChar char="•"/>
            </a:pPr>
            <a:r>
              <a:rPr lang="en-US" sz="2400">
                <a:solidFill>
                  <a:srgbClr val="000000"/>
                </a:solidFill>
                <a:latin typeface="Inter"/>
                <a:ea typeface="Inter"/>
                <a:cs typeface="Inter"/>
                <a:sym typeface="Inter"/>
              </a:rPr>
              <a:t>Teamwork: Integrating six people's work into one coherent pipeline.</a:t>
            </a:r>
          </a:p>
          <a:p>
            <a:pPr algn="l">
              <a:lnSpc>
                <a:spcPts val="3359"/>
              </a:lnSpc>
              <a:spcBef>
                <a:spcPct val="0"/>
              </a:spcBef>
            </a:pPr>
          </a:p>
        </p:txBody>
      </p:sp>
      <p:sp>
        <p:nvSpPr>
          <p:cNvPr name="TextBox 8" id="8"/>
          <p:cNvSpPr txBox="true"/>
          <p:nvPr/>
        </p:nvSpPr>
        <p:spPr>
          <a:xfrm rot="0">
            <a:off x="492964" y="6848278"/>
            <a:ext cx="17302072" cy="2082165"/>
          </a:xfrm>
          <a:prstGeom prst="rect">
            <a:avLst/>
          </a:prstGeom>
        </p:spPr>
        <p:txBody>
          <a:bodyPr anchor="t" rtlCol="false" tIns="0" lIns="0" bIns="0" rIns="0">
            <a:spAutoFit/>
          </a:bodyPr>
          <a:lstStyle/>
          <a:p>
            <a:pPr algn="l">
              <a:lnSpc>
                <a:spcPts val="3359"/>
              </a:lnSpc>
            </a:pPr>
            <a:r>
              <a:rPr lang="en-US" sz="2400" b="true">
                <a:solidFill>
                  <a:srgbClr val="000000"/>
                </a:solidFill>
                <a:latin typeface="Inter Bold"/>
                <a:ea typeface="Inter Bold"/>
                <a:cs typeface="Inter Bold"/>
                <a:sym typeface="Inter Bold"/>
              </a:rPr>
              <a:t>Conclusion:</a:t>
            </a:r>
          </a:p>
          <a:p>
            <a:pPr algn="l">
              <a:lnSpc>
                <a:spcPts val="3359"/>
              </a:lnSpc>
              <a:spcBef>
                <a:spcPct val="0"/>
              </a:spcBef>
            </a:pPr>
            <a:r>
              <a:rPr lang="en-US" sz="2400">
                <a:solidFill>
                  <a:srgbClr val="000000"/>
                </a:solidFill>
                <a:latin typeface="Inter"/>
                <a:ea typeface="Inter"/>
                <a:cs typeface="Inter"/>
                <a:sym typeface="Inter"/>
              </a:rPr>
              <a:t>Built an end-to-end ML pipeline forecasting h</a:t>
            </a:r>
            <a:r>
              <a:rPr lang="en-US" sz="2400">
                <a:solidFill>
                  <a:srgbClr val="000000"/>
                </a:solidFill>
                <a:latin typeface="Inter"/>
                <a:ea typeface="Inter"/>
                <a:cs typeface="Inter"/>
                <a:sym typeface="Inter"/>
              </a:rPr>
              <a:t>ourly bike-share demand (RMSE , R²  MAPE  on a chronological holdout). Used the forecasts to identify a 35% safety margin that minimizes total fleet-rebalancing cost, saving an estimated 41.5% versus no safety margin — demonstrating how forecasting can directly inform operational decisions.</a:t>
            </a:r>
          </a:p>
          <a:p>
            <a:pPr algn="l">
              <a:lnSpc>
                <a:spcPts val="3359"/>
              </a:lnSpc>
              <a:spcBef>
                <a:spcPct val="0"/>
              </a:spcBef>
            </a:pPr>
          </a:p>
        </p:txBody>
      </p:sp>
      <p:sp>
        <p:nvSpPr>
          <p:cNvPr name="TextBox 9" id="9"/>
          <p:cNvSpPr txBox="true"/>
          <p:nvPr/>
        </p:nvSpPr>
        <p:spPr>
          <a:xfrm rot="0">
            <a:off x="552235" y="1429593"/>
            <a:ext cx="17316892" cy="2920365"/>
          </a:xfrm>
          <a:prstGeom prst="rect">
            <a:avLst/>
          </a:prstGeom>
        </p:spPr>
        <p:txBody>
          <a:bodyPr anchor="t" rtlCol="false" tIns="0" lIns="0" bIns="0" rIns="0">
            <a:spAutoFit/>
          </a:bodyPr>
          <a:lstStyle/>
          <a:p>
            <a:pPr algn="l">
              <a:lnSpc>
                <a:spcPts val="3359"/>
              </a:lnSpc>
              <a:spcBef>
                <a:spcPct val="0"/>
              </a:spcBef>
            </a:pPr>
            <a:r>
              <a:rPr lang="en-US" b="true" sz="2400">
                <a:solidFill>
                  <a:srgbClr val="000000"/>
                </a:solidFill>
                <a:latin typeface="Inter Bold"/>
                <a:ea typeface="Inter Bold"/>
                <a:cs typeface="Inter Bold"/>
                <a:sym typeface="Inter Bold"/>
              </a:rPr>
              <a:t>Team C</a:t>
            </a:r>
            <a:r>
              <a:rPr lang="en-US" b="true" sz="2400">
                <a:solidFill>
                  <a:srgbClr val="000000"/>
                </a:solidFill>
                <a:latin typeface="Inter Bold"/>
                <a:ea typeface="Inter Bold"/>
                <a:cs typeface="Inter Bold"/>
                <a:sym typeface="Inter Bold"/>
              </a:rPr>
              <a:t>ontributions</a:t>
            </a:r>
          </a:p>
          <a:p>
            <a:pPr algn="l">
              <a:lnSpc>
                <a:spcPts val="3359"/>
              </a:lnSpc>
              <a:spcBef>
                <a:spcPct val="0"/>
              </a:spcBef>
            </a:pPr>
            <a:r>
              <a:rPr lang="en-US" sz="2400">
                <a:solidFill>
                  <a:srgbClr val="000000"/>
                </a:solidFill>
                <a:latin typeface="Inter"/>
                <a:ea typeface="Inter"/>
                <a:cs typeface="Inter"/>
                <a:sym typeface="Inter"/>
              </a:rPr>
              <a:t>Varshitha K R </a:t>
            </a:r>
            <a:r>
              <a:rPr lang="en-US" b="true" sz="2400">
                <a:solidFill>
                  <a:srgbClr val="000000"/>
                </a:solidFill>
                <a:latin typeface="Inter Bold"/>
                <a:ea typeface="Inter Bold"/>
                <a:cs typeface="Inter Bold"/>
                <a:sym typeface="Inter Bold"/>
              </a:rPr>
              <a:t>(Data Engineer)</a:t>
            </a:r>
            <a:r>
              <a:rPr lang="en-US" sz="2400">
                <a:solidFill>
                  <a:srgbClr val="000000"/>
                </a:solidFill>
                <a:latin typeface="Inter"/>
                <a:ea typeface="Inter"/>
                <a:cs typeface="Inter"/>
                <a:sym typeface="Inter"/>
              </a:rPr>
              <a:t>: Data cleaning &amp; leakage prevention</a:t>
            </a:r>
          </a:p>
          <a:p>
            <a:pPr algn="l">
              <a:lnSpc>
                <a:spcPts val="3359"/>
              </a:lnSpc>
              <a:spcBef>
                <a:spcPct val="0"/>
              </a:spcBef>
            </a:pPr>
            <a:r>
              <a:rPr lang="en-US" sz="2400">
                <a:solidFill>
                  <a:srgbClr val="000000"/>
                </a:solidFill>
                <a:latin typeface="Inter"/>
                <a:ea typeface="Inter"/>
                <a:cs typeface="Inter"/>
                <a:sym typeface="Inter"/>
              </a:rPr>
              <a:t>Greshmaa Rajesh (</a:t>
            </a:r>
            <a:r>
              <a:rPr lang="en-US" b="true" sz="2400">
                <a:solidFill>
                  <a:srgbClr val="000000"/>
                </a:solidFill>
                <a:latin typeface="Inter Bold"/>
                <a:ea typeface="Inter Bold"/>
                <a:cs typeface="Inter Bold"/>
                <a:sym typeface="Inter Bold"/>
              </a:rPr>
              <a:t>Data Analyst)</a:t>
            </a:r>
            <a:r>
              <a:rPr lang="en-US" sz="2400">
                <a:solidFill>
                  <a:srgbClr val="000000"/>
                </a:solidFill>
                <a:latin typeface="Inter"/>
                <a:ea typeface="Inter"/>
                <a:cs typeface="Inter"/>
                <a:sym typeface="Inter"/>
              </a:rPr>
              <a:t>: EDA &amp; key insights</a:t>
            </a:r>
          </a:p>
          <a:p>
            <a:pPr algn="l">
              <a:lnSpc>
                <a:spcPts val="3359"/>
              </a:lnSpc>
              <a:spcBef>
                <a:spcPct val="0"/>
              </a:spcBef>
            </a:pPr>
            <a:r>
              <a:rPr lang="en-US" sz="2400">
                <a:solidFill>
                  <a:srgbClr val="000000"/>
                </a:solidFill>
                <a:latin typeface="Inter"/>
                <a:ea typeface="Inter"/>
                <a:cs typeface="Inter"/>
                <a:sym typeface="Inter"/>
              </a:rPr>
              <a:t>A Merlin Levia </a:t>
            </a:r>
            <a:r>
              <a:rPr lang="en-US" b="true" sz="2400">
                <a:solidFill>
                  <a:srgbClr val="000000"/>
                </a:solidFill>
                <a:latin typeface="Inter Bold"/>
                <a:ea typeface="Inter Bold"/>
                <a:cs typeface="Inter Bold"/>
                <a:sym typeface="Inter Bold"/>
              </a:rPr>
              <a:t>(Data Scientist)</a:t>
            </a:r>
            <a:r>
              <a:rPr lang="en-US" sz="2400">
                <a:solidFill>
                  <a:srgbClr val="000000"/>
                </a:solidFill>
                <a:latin typeface="Inter"/>
                <a:ea typeface="Inter"/>
                <a:cs typeface="Inter"/>
                <a:sym typeface="Inter"/>
              </a:rPr>
              <a:t>: Model training &amp; tuning</a:t>
            </a:r>
          </a:p>
          <a:p>
            <a:pPr algn="l">
              <a:lnSpc>
                <a:spcPts val="3359"/>
              </a:lnSpc>
              <a:spcBef>
                <a:spcPct val="0"/>
              </a:spcBef>
            </a:pPr>
            <a:r>
              <a:rPr lang="en-US" sz="2400">
                <a:solidFill>
                  <a:srgbClr val="000000"/>
                </a:solidFill>
                <a:latin typeface="Inter"/>
                <a:ea typeface="Inter"/>
                <a:cs typeface="Inter"/>
                <a:sym typeface="Inter"/>
              </a:rPr>
              <a:t>Shiny Matilda K </a:t>
            </a:r>
            <a:r>
              <a:rPr lang="en-US" b="true" sz="2400">
                <a:solidFill>
                  <a:srgbClr val="000000"/>
                </a:solidFill>
                <a:latin typeface="Inter Bold"/>
                <a:ea typeface="Inter Bold"/>
                <a:cs typeface="Inter Bold"/>
                <a:sym typeface="Inter Bold"/>
              </a:rPr>
              <a:t>(Analytics Engineer)</a:t>
            </a:r>
            <a:r>
              <a:rPr lang="en-US" sz="2400">
                <a:solidFill>
                  <a:srgbClr val="000000"/>
                </a:solidFill>
                <a:latin typeface="Inter"/>
                <a:ea typeface="Inter"/>
                <a:cs typeface="Inter"/>
                <a:sym typeface="Inter"/>
              </a:rPr>
              <a:t>: Rebalancing logic &amp; cost analysis</a:t>
            </a:r>
          </a:p>
          <a:p>
            <a:pPr algn="l">
              <a:lnSpc>
                <a:spcPts val="3359"/>
              </a:lnSpc>
              <a:spcBef>
                <a:spcPct val="0"/>
              </a:spcBef>
            </a:pPr>
            <a:r>
              <a:rPr lang="en-US" sz="2400">
                <a:solidFill>
                  <a:srgbClr val="000000"/>
                </a:solidFill>
                <a:latin typeface="Inter"/>
                <a:ea typeface="Inter"/>
                <a:cs typeface="Inter"/>
                <a:sym typeface="Inter"/>
              </a:rPr>
              <a:t>V Mounisha </a:t>
            </a:r>
            <a:r>
              <a:rPr lang="en-US" b="true" sz="2400">
                <a:solidFill>
                  <a:srgbClr val="000000"/>
                </a:solidFill>
                <a:latin typeface="Inter Bold"/>
                <a:ea typeface="Inter Bold"/>
                <a:cs typeface="Inter Bold"/>
                <a:sym typeface="Inter Bold"/>
              </a:rPr>
              <a:t>(ML Engineer)</a:t>
            </a:r>
            <a:r>
              <a:rPr lang="en-US" sz="2400">
                <a:solidFill>
                  <a:srgbClr val="000000"/>
                </a:solidFill>
                <a:latin typeface="Inter"/>
                <a:ea typeface="Inter"/>
                <a:cs typeface="Inter"/>
                <a:sym typeface="Inter"/>
              </a:rPr>
              <a:t>: Prediction pipeline &amp; logging</a:t>
            </a:r>
          </a:p>
          <a:p>
            <a:pPr algn="l">
              <a:lnSpc>
                <a:spcPts val="3359"/>
              </a:lnSpc>
              <a:spcBef>
                <a:spcPct val="0"/>
              </a:spcBef>
            </a:pPr>
            <a:r>
              <a:rPr lang="en-US" sz="2400">
                <a:solidFill>
                  <a:srgbClr val="000000"/>
                </a:solidFill>
                <a:latin typeface="Inter"/>
                <a:ea typeface="Inter"/>
                <a:cs typeface="Inter"/>
                <a:sym typeface="Inter"/>
              </a:rPr>
              <a:t>Angel Precilla </a:t>
            </a:r>
            <a:r>
              <a:rPr lang="en-US" b="true" sz="2400">
                <a:solidFill>
                  <a:srgbClr val="000000"/>
                </a:solidFill>
                <a:latin typeface="Inter Bold"/>
                <a:ea typeface="Inter Bold"/>
                <a:cs typeface="Inter Bold"/>
                <a:sym typeface="Inter Bold"/>
              </a:rPr>
              <a:t>(BI Developer)</a:t>
            </a:r>
            <a:r>
              <a:rPr lang="en-US" sz="2400">
                <a:solidFill>
                  <a:srgbClr val="000000"/>
                </a:solidFill>
                <a:latin typeface="Inter"/>
                <a:ea typeface="Inter"/>
                <a:cs typeface="Inter"/>
                <a:sym typeface="Inter"/>
              </a:rPr>
              <a:t>: Power BI dashboard</a:t>
            </a:r>
          </a:p>
        </p:txBody>
      </p:sp>
    </p:spTree>
  </p:cSld>
  <p:clrMapOvr>
    <a:masterClrMapping/>
  </p:clrMapOvr>
  <p:transition spd="slow">
    <p:push dir="l"/>
  </p:transition>
</p:sld>
</file>

<file path=ppt/slides/slide2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59117" y="353306"/>
            <a:ext cx="17639848" cy="9580389"/>
            <a:chOff x="0" y="0"/>
            <a:chExt cx="4645886" cy="2523230"/>
          </a:xfrm>
        </p:grpSpPr>
        <p:sp>
          <p:nvSpPr>
            <p:cNvPr name="Freeform 3" id="3"/>
            <p:cNvSpPr/>
            <p:nvPr/>
          </p:nvSpPr>
          <p:spPr>
            <a:xfrm flipH="false" flipV="false" rot="0">
              <a:off x="0" y="0"/>
              <a:ext cx="4645886" cy="2523230"/>
            </a:xfrm>
            <a:custGeom>
              <a:avLst/>
              <a:gdLst/>
              <a:ahLst/>
              <a:cxnLst/>
              <a:rect r="r" b="b" t="t" l="l"/>
              <a:pathLst>
                <a:path h="2523230" w="4645886">
                  <a:moveTo>
                    <a:pt x="22383" y="0"/>
                  </a:moveTo>
                  <a:lnTo>
                    <a:pt x="4623503" y="0"/>
                  </a:lnTo>
                  <a:cubicBezTo>
                    <a:pt x="4629439" y="0"/>
                    <a:pt x="4635132" y="2358"/>
                    <a:pt x="4639330" y="6556"/>
                  </a:cubicBezTo>
                  <a:cubicBezTo>
                    <a:pt x="4643527" y="10754"/>
                    <a:pt x="4645886" y="16447"/>
                    <a:pt x="4645886" y="22383"/>
                  </a:cubicBezTo>
                  <a:lnTo>
                    <a:pt x="4645886" y="2500847"/>
                  </a:lnTo>
                  <a:cubicBezTo>
                    <a:pt x="4645886" y="2506783"/>
                    <a:pt x="4643527" y="2512476"/>
                    <a:pt x="4639330" y="2516674"/>
                  </a:cubicBezTo>
                  <a:cubicBezTo>
                    <a:pt x="4635132" y="2520872"/>
                    <a:pt x="4629439" y="2523230"/>
                    <a:pt x="4623503" y="2523230"/>
                  </a:cubicBezTo>
                  <a:lnTo>
                    <a:pt x="22383" y="2523230"/>
                  </a:lnTo>
                  <a:cubicBezTo>
                    <a:pt x="16447" y="2523230"/>
                    <a:pt x="10754" y="2520872"/>
                    <a:pt x="6556" y="2516674"/>
                  </a:cubicBezTo>
                  <a:cubicBezTo>
                    <a:pt x="2358" y="2512476"/>
                    <a:pt x="0" y="2506783"/>
                    <a:pt x="0" y="2500847"/>
                  </a:cubicBezTo>
                  <a:lnTo>
                    <a:pt x="0" y="22383"/>
                  </a:lnTo>
                  <a:cubicBezTo>
                    <a:pt x="0" y="16447"/>
                    <a:pt x="2358" y="10754"/>
                    <a:pt x="6556" y="6556"/>
                  </a:cubicBezTo>
                  <a:cubicBezTo>
                    <a:pt x="10754" y="2358"/>
                    <a:pt x="16447" y="0"/>
                    <a:pt x="22383" y="0"/>
                  </a:cubicBezTo>
                  <a:close/>
                </a:path>
              </a:pathLst>
            </a:custGeom>
            <a:gradFill rotWithShape="true">
              <a:gsLst>
                <a:gs pos="0">
                  <a:srgbClr val="3B82F6">
                    <a:alpha val="100000"/>
                  </a:srgbClr>
                </a:gs>
                <a:gs pos="100000">
                  <a:srgbClr val="06B6D4">
                    <a:alpha val="100000"/>
                  </a:srgbClr>
                </a:gs>
              </a:gsLst>
              <a:lin ang="0"/>
            </a:gradFill>
          </p:spPr>
        </p:sp>
        <p:sp>
          <p:nvSpPr>
            <p:cNvPr name="TextBox 4" id="4"/>
            <p:cNvSpPr txBox="true"/>
            <p:nvPr/>
          </p:nvSpPr>
          <p:spPr>
            <a:xfrm>
              <a:off x="0" y="-38100"/>
              <a:ext cx="4645886" cy="256133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2762432" y="3611059"/>
            <a:ext cx="12219513" cy="2222731"/>
          </a:xfrm>
          <a:prstGeom prst="rect">
            <a:avLst/>
          </a:prstGeom>
        </p:spPr>
        <p:txBody>
          <a:bodyPr anchor="t" rtlCol="false" tIns="0" lIns="0" bIns="0" rIns="0">
            <a:spAutoFit/>
          </a:bodyPr>
          <a:lstStyle/>
          <a:p>
            <a:pPr algn="ctr" marL="0" indent="0" lvl="0">
              <a:lnSpc>
                <a:spcPts val="18187"/>
              </a:lnSpc>
            </a:pPr>
            <a:r>
              <a:rPr lang="en-US" b="true" sz="12990">
                <a:solidFill>
                  <a:srgbClr val="F8FAFC"/>
                </a:solidFill>
                <a:latin typeface="DM Sans Bold"/>
                <a:ea typeface="DM Sans Bold"/>
                <a:cs typeface="DM Sans Bold"/>
                <a:sym typeface="DM Sans Bold"/>
              </a:rPr>
              <a:t>Thank You</a:t>
            </a:r>
          </a:p>
        </p:txBody>
      </p:sp>
    </p:spTree>
  </p:cSld>
  <p:clrMapOvr>
    <a:masterClrMapping/>
  </p:clrMapOvr>
  <p:transition spd="slow">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DAHVjSwFeAY</dc:identifier>
  <dcterms:modified xsi:type="dcterms:W3CDTF">2011-08-01T06:04:30Z</dcterms:modified>
  <cp:revision>1</cp:revision>
  <dc:title>Black and Red Modern Computer Science Presentation</dc:title>
</cp:coreProperties>
</file>